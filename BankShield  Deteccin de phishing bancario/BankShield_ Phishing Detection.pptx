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Urbanist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2" roundtripDataSignature="AMtx7mh5lG8tvLEHxE+f81KeyTnk+Z/Y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-italic.fntdata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font" Target="fonts/Urbanist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Urbanist-bold.fntdata"/><Relationship Id="rId6" Type="http://schemas.openxmlformats.org/officeDocument/2006/relationships/slide" Target="slides/slide1.xml"/><Relationship Id="rId18" Type="http://schemas.openxmlformats.org/officeDocument/2006/relationships/font" Target="fonts/Urbanist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76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" name="Google Shape;13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4306fd7be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g394306fd7be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94306fd7be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5" name="Google Shape;175;g394306fd7be_0_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4" name="Google Shape;18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3" name="Google Shape;19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7" name="Google Shape;20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20.png"/><Relationship Id="rId6" Type="http://schemas.openxmlformats.org/officeDocument/2006/relationships/image" Target="../media/image11.png"/><Relationship Id="rId7" Type="http://schemas.openxmlformats.org/officeDocument/2006/relationships/image" Target="../media/image5.png"/><Relationship Id="rId8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10.png"/><Relationship Id="rId6" Type="http://schemas.openxmlformats.org/officeDocument/2006/relationships/image" Target="../media/image28.png"/><Relationship Id="rId7" Type="http://schemas.openxmlformats.org/officeDocument/2006/relationships/image" Target="../media/image8.png"/><Relationship Id="rId8" Type="http://schemas.openxmlformats.org/officeDocument/2006/relationships/image" Target="../media/image26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14.png"/><Relationship Id="rId10" Type="http://schemas.openxmlformats.org/officeDocument/2006/relationships/image" Target="../media/image12.png"/><Relationship Id="rId13" Type="http://schemas.openxmlformats.org/officeDocument/2006/relationships/image" Target="../media/image16.png"/><Relationship Id="rId1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27.png"/><Relationship Id="rId5" Type="http://schemas.openxmlformats.org/officeDocument/2006/relationships/image" Target="../media/image24.png"/><Relationship Id="rId6" Type="http://schemas.openxmlformats.org/officeDocument/2006/relationships/image" Target="../media/image18.png"/><Relationship Id="rId7" Type="http://schemas.openxmlformats.org/officeDocument/2006/relationships/image" Target="../media/image13.png"/><Relationship Id="rId8" Type="http://schemas.openxmlformats.org/officeDocument/2006/relationships/image" Target="../media/image2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23.png"/><Relationship Id="rId5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Relationship Id="rId4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295275" y="2071687"/>
            <a:ext cx="116014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Arial"/>
              <a:buNone/>
            </a:pPr>
            <a:r>
              <a:rPr b="1" i="0" lang="en-US" sz="7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Bank</a:t>
            </a:r>
            <a:r>
              <a:rPr b="1" i="0" lang="en-US" sz="7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Shield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571500" y="3386137"/>
            <a:ext cx="11049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3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Detección de Phishing Bancario con Deep Learning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571500" y="4357687"/>
            <a:ext cx="110490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María Inés Martinote, Florencia Lucas, Florencia Barrios</a:t>
            </a:r>
            <a:endParaRPr b="0" i="0" sz="1350" u="none" cap="none" strike="noStrike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Febrero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2"/>
          <p:cNvSpPr/>
          <p:nvPr/>
        </p:nvSpPr>
        <p:spPr>
          <a:xfrm>
            <a:off x="5619750" y="2652712"/>
            <a:ext cx="9525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"/>
          <p:cNvSpPr txBox="1"/>
          <p:nvPr/>
        </p:nvSpPr>
        <p:spPr>
          <a:xfrm>
            <a:off x="295275" y="2976562"/>
            <a:ext cx="11601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El Desafío del </a:t>
            </a:r>
            <a:r>
              <a:rPr b="1" i="0" lang="en-US" sz="60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Smishing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571500" y="4062412"/>
            <a:ext cx="11049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Por qué la ciberseguridad financiera necesita evolucionar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6650" y="1274025"/>
            <a:ext cx="4712050" cy="472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3"/>
          <p:cNvSpPr txBox="1"/>
          <p:nvPr/>
        </p:nvSpPr>
        <p:spPr>
          <a:xfrm>
            <a:off x="952500" y="2445874"/>
            <a:ext cx="49053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lang="en-US" sz="18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Smishing</a:t>
            </a:r>
            <a:r>
              <a:rPr b="1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Estafas por SMS en crecimiento masivo.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"/>
          <p:cNvSpPr txBox="1"/>
          <p:nvPr/>
        </p:nvSpPr>
        <p:spPr>
          <a:xfrm>
            <a:off x="952500" y="3618785"/>
            <a:ext cx="49053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lang="en-US" sz="18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ML Tradicional: </a:t>
            </a:r>
            <a:r>
              <a:rPr lang="en-US" sz="18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Falla ante nuevos patrones y errores ortográficos adrede.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"/>
          <p:cNvSpPr txBox="1"/>
          <p:nvPr/>
        </p:nvSpPr>
        <p:spPr>
          <a:xfrm>
            <a:off x="952500" y="4791687"/>
            <a:ext cx="49053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lang="en-US" sz="18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Necesidad: </a:t>
            </a:r>
            <a:r>
              <a:rPr lang="en-US" sz="18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Un modelo que entienda el </a:t>
            </a:r>
            <a:r>
              <a:rPr b="1" lang="en-US" sz="18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contexto </a:t>
            </a:r>
            <a:r>
              <a:rPr lang="en-US" sz="18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y la </a:t>
            </a:r>
            <a:r>
              <a:rPr b="1" lang="en-US" sz="18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intención</a:t>
            </a:r>
            <a:r>
              <a:rPr lang="en-US" sz="18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Un problema de </a:t>
            </a:r>
            <a:r>
              <a:rPr b="1" i="0" lang="en-US" sz="37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Contexto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" name="Google Shape;106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50691" y="1418529"/>
            <a:ext cx="4407826" cy="4407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1500" y="2445875"/>
            <a:ext cx="258525" cy="25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4375" y="3618775"/>
            <a:ext cx="312800" cy="31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44363" y="4791675"/>
            <a:ext cx="312800" cy="3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 txBox="1"/>
          <p:nvPr/>
        </p:nvSpPr>
        <p:spPr>
          <a:xfrm>
            <a:off x="571500" y="571500"/>
            <a:ext cx="116016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Arial"/>
              <a:buNone/>
            </a:pPr>
            <a:r>
              <a:rPr b="1" lang="en-US" sz="375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Dataset</a:t>
            </a:r>
            <a:endParaRPr b="0" i="0" sz="1400" u="none" cap="none" strike="noStrike">
              <a:solidFill>
                <a:srgbClr val="DEFF9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7"/>
          <p:cNvSpPr txBox="1"/>
          <p:nvPr/>
        </p:nvSpPr>
        <p:spPr>
          <a:xfrm>
            <a:off x="571500" y="2404600"/>
            <a:ext cx="5286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lang="en-US" sz="18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SMS Spam Collection</a:t>
            </a:r>
            <a:endParaRPr b="1" i="0" sz="1800" u="none" cap="none" strike="noStrike">
              <a:solidFill>
                <a:srgbClr val="DEFF9A"/>
              </a:solidFill>
            </a:endParaRPr>
          </a:p>
        </p:txBody>
      </p:sp>
      <p:sp>
        <p:nvSpPr>
          <p:cNvPr id="116" name="Google Shape;116;p7"/>
          <p:cNvSpPr txBox="1"/>
          <p:nvPr/>
        </p:nvSpPr>
        <p:spPr>
          <a:xfrm>
            <a:off x="571500" y="2922749"/>
            <a:ext cx="4905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lang="en-US" sz="18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Muestra</a:t>
            </a:r>
            <a:r>
              <a:rPr b="1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5,572 mensajes únicos.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7"/>
          <p:cNvSpPr txBox="1"/>
          <p:nvPr/>
        </p:nvSpPr>
        <p:spPr>
          <a:xfrm>
            <a:off x="571500" y="3430224"/>
            <a:ext cx="4905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lang="en-US" sz="18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Balance: </a:t>
            </a:r>
            <a:r>
              <a:rPr lang="en-US" sz="18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86% Legítimos / 14% Fraude.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7"/>
          <p:cNvSpPr txBox="1"/>
          <p:nvPr/>
        </p:nvSpPr>
        <p:spPr>
          <a:xfrm>
            <a:off x="571500" y="3937699"/>
            <a:ext cx="4905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lang="en-US" sz="18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Split: </a:t>
            </a:r>
            <a:r>
              <a:rPr lang="en-US" sz="18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80% Entrenamiento / 20% Test.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5600" y="2767013"/>
            <a:ext cx="5076825" cy="132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4" name="Google Shape;12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4"/>
          <p:cNvSpPr/>
          <p:nvPr/>
        </p:nvSpPr>
        <p:spPr>
          <a:xfrm>
            <a:off x="5619750" y="2652712"/>
            <a:ext cx="9525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 txBox="1"/>
          <p:nvPr/>
        </p:nvSpPr>
        <p:spPr>
          <a:xfrm>
            <a:off x="295275" y="2976562"/>
            <a:ext cx="11601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La Solución: </a:t>
            </a:r>
            <a:r>
              <a:rPr b="1" i="0" lang="en-US" sz="60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DistilBERT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4"/>
          <p:cNvSpPr txBox="1"/>
          <p:nvPr/>
        </p:nvSpPr>
        <p:spPr>
          <a:xfrm>
            <a:off x="571500" y="4062412"/>
            <a:ext cx="11049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Aprovechando la potencia de los Transformers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2" name="Google Shape;13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38400"/>
            <a:ext cx="3492400" cy="2943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438400"/>
            <a:ext cx="3492549" cy="2943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7950" y="2438400"/>
            <a:ext cx="3492400" cy="294322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5"/>
          <p:cNvSpPr txBox="1"/>
          <p:nvPr/>
        </p:nvSpPr>
        <p:spPr>
          <a:xfrm>
            <a:off x="894241" y="3600450"/>
            <a:ext cx="284691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Entiende Intenciones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5"/>
          <p:cNvSpPr txBox="1"/>
          <p:nvPr/>
        </p:nvSpPr>
        <p:spPr>
          <a:xfrm>
            <a:off x="962025" y="4048125"/>
            <a:ext cx="27113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No busca palabras sueltas; entiende la urgencia y la semántica de la frase.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5"/>
          <p:cNvSpPr txBox="1"/>
          <p:nvPr/>
        </p:nvSpPr>
        <p:spPr>
          <a:xfrm>
            <a:off x="4672388" y="3600450"/>
            <a:ext cx="2847074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Fine-Tuning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5"/>
          <p:cNvSpPr txBox="1"/>
          <p:nvPr/>
        </p:nvSpPr>
        <p:spPr>
          <a:xfrm>
            <a:off x="4740175" y="4048125"/>
            <a:ext cx="2711499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Transferencia de conocimiento: un modelo que sabe leer adaptado a bancos.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5"/>
          <p:cNvSpPr txBox="1"/>
          <p:nvPr/>
        </p:nvSpPr>
        <p:spPr>
          <a:xfrm>
            <a:off x="8450691" y="3600450"/>
            <a:ext cx="284691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Mecanismo de Atención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5"/>
          <p:cNvSpPr txBox="1"/>
          <p:nvPr/>
        </p:nvSpPr>
        <p:spPr>
          <a:xfrm>
            <a:off x="8518475" y="4048125"/>
            <a:ext cx="2711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Enfoca su mirada en la relación crítica entre palabras (Sujeto - Verbo - Link).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42" name="Google Shape;142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79575" y="2867025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86301" y="2867025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36025" y="286702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5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¿Por qué usar un </a:t>
            </a:r>
            <a:r>
              <a:rPr b="1" i="0" lang="en-US" sz="37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LLM</a:t>
            </a:r>
            <a:r>
              <a:rPr b="1" i="0" lang="en-US" sz="37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0" name="Google Shape;15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05012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324350"/>
            <a:ext cx="595312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62062" y="4324350"/>
            <a:ext cx="5334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90712" y="4324350"/>
            <a:ext cx="5334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519362" y="4324350"/>
            <a:ext cx="471487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086100" y="4324350"/>
            <a:ext cx="6572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838575" y="4324350"/>
            <a:ext cx="4095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343400" y="4324350"/>
            <a:ext cx="6572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095875" y="4324350"/>
            <a:ext cx="595312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6"/>
          <p:cNvSpPr txBox="1"/>
          <p:nvPr/>
        </p:nvSpPr>
        <p:spPr>
          <a:xfrm>
            <a:off x="571500" y="2434174"/>
            <a:ext cx="5550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4"/>
              <a:buFont typeface="Arial"/>
              <a:buNone/>
            </a:pPr>
            <a:r>
              <a:rPr b="1" i="0" lang="en-US" sz="2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Tokenización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6"/>
          <p:cNvSpPr txBox="1"/>
          <p:nvPr/>
        </p:nvSpPr>
        <p:spPr>
          <a:xfrm>
            <a:off x="571500" y="2926887"/>
            <a:ext cx="5286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El texto se descompone en unidades mínimas. Si el atacante escribe </a:t>
            </a:r>
            <a:r>
              <a:rPr b="1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"cu€nta"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, el modelo reconoce la raíz semántica.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6"/>
          <p:cNvSpPr txBox="1"/>
          <p:nvPr/>
        </p:nvSpPr>
        <p:spPr>
          <a:xfrm>
            <a:off x="571500" y="571500"/>
            <a:ext cx="116016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Arial"/>
              <a:buNone/>
            </a:pPr>
            <a:r>
              <a:rPr b="1" lang="en-US" sz="375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¿</a:t>
            </a:r>
            <a:r>
              <a:rPr b="1" i="0" lang="en-US" sz="37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Cómo "lee" el </a:t>
            </a:r>
            <a:r>
              <a:rPr b="1" i="0" lang="en-US" sz="37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Modelo</a:t>
            </a:r>
            <a:r>
              <a:rPr b="1" i="0" lang="en-US" sz="375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?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3" name="Google Shape;163;p6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779051" y="2741976"/>
            <a:ext cx="4396519" cy="192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94306fd7be_0_22"/>
          <p:cNvSpPr txBox="1"/>
          <p:nvPr/>
        </p:nvSpPr>
        <p:spPr>
          <a:xfrm>
            <a:off x="571500" y="571500"/>
            <a:ext cx="116016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Arial"/>
              <a:buNone/>
            </a:pPr>
            <a:r>
              <a:rPr b="1" lang="en-US" sz="375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Mecanismo de </a:t>
            </a:r>
            <a:r>
              <a:rPr b="1" lang="en-US" sz="375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Atención</a:t>
            </a:r>
            <a:endParaRPr b="0" i="0" sz="1400" u="none" cap="none" strike="noStrike">
              <a:solidFill>
                <a:srgbClr val="DEFF9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g394306fd7be_0_22"/>
          <p:cNvSpPr txBox="1"/>
          <p:nvPr/>
        </p:nvSpPr>
        <p:spPr>
          <a:xfrm>
            <a:off x="571500" y="2404589"/>
            <a:ext cx="52863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8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El modelo "conecta" palabras clave para entender la amenaza: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g394306fd7be_0_22"/>
          <p:cNvSpPr/>
          <p:nvPr/>
        </p:nvSpPr>
        <p:spPr>
          <a:xfrm>
            <a:off x="571500" y="3578967"/>
            <a:ext cx="5286300" cy="465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8FA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Tarjeta </a:t>
            </a:r>
            <a:r>
              <a:rPr lang="en-US" sz="18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- </a:t>
            </a:r>
            <a:r>
              <a:rPr lang="en-US" sz="1800">
                <a:solidFill>
                  <a:srgbClr val="CC4125"/>
                </a:solidFill>
                <a:latin typeface="Urbanist"/>
                <a:ea typeface="Urbanist"/>
                <a:cs typeface="Urbanist"/>
                <a:sym typeface="Urbanist"/>
              </a:rPr>
              <a:t>Bloqueada</a:t>
            </a:r>
            <a:endParaRPr>
              <a:solidFill>
                <a:srgbClr val="CC412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g394306fd7be_0_22"/>
          <p:cNvSpPr/>
          <p:nvPr/>
        </p:nvSpPr>
        <p:spPr>
          <a:xfrm>
            <a:off x="564940" y="4253665"/>
            <a:ext cx="5286300" cy="465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8FA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C4125"/>
                </a:solidFill>
                <a:latin typeface="Urbanist"/>
                <a:ea typeface="Urbanist"/>
                <a:cs typeface="Urbanist"/>
                <a:sym typeface="Urbanist"/>
              </a:rPr>
              <a:t>Urgente </a:t>
            </a:r>
            <a:r>
              <a:rPr lang="en-US" sz="18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- </a:t>
            </a:r>
            <a:r>
              <a:rPr lang="en-US" sz="18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Click aquí</a:t>
            </a:r>
            <a:endParaRPr>
              <a:solidFill>
                <a:srgbClr val="DEFF9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2" name="Google Shape;172;g394306fd7be_0_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9375" y="2271713"/>
            <a:ext cx="3419475" cy="231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94306fd7be_0_43"/>
          <p:cNvSpPr txBox="1"/>
          <p:nvPr/>
        </p:nvSpPr>
        <p:spPr>
          <a:xfrm>
            <a:off x="571500" y="571500"/>
            <a:ext cx="116016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Arial"/>
              <a:buNone/>
            </a:pPr>
            <a:r>
              <a:rPr b="1" lang="en-US" sz="375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Hiperparámetros</a:t>
            </a:r>
            <a:endParaRPr b="0" i="0" sz="1400" u="none" cap="none" strike="noStrike">
              <a:solidFill>
                <a:srgbClr val="DEFF9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g394306fd7be_0_43"/>
          <p:cNvSpPr/>
          <p:nvPr/>
        </p:nvSpPr>
        <p:spPr>
          <a:xfrm>
            <a:off x="514725" y="2468387"/>
            <a:ext cx="5286300" cy="1100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8FA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Batch Size</a:t>
            </a:r>
            <a:endParaRPr b="1" sz="1800">
              <a:solidFill>
                <a:srgbClr val="DEFF9A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16 mensajes/paso</a:t>
            </a:r>
            <a:endParaRPr sz="1800">
              <a:solidFill>
                <a:srgbClr val="F8FAFC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9" name="Google Shape;179;g394306fd7be_0_43"/>
          <p:cNvSpPr/>
          <p:nvPr/>
        </p:nvSpPr>
        <p:spPr>
          <a:xfrm>
            <a:off x="514725" y="4045260"/>
            <a:ext cx="5286300" cy="1100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8FA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Epochs</a:t>
            </a:r>
            <a:endParaRPr b="1" sz="1800">
              <a:solidFill>
                <a:srgbClr val="DEFF9A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3 pasadas completas</a:t>
            </a:r>
            <a:endParaRPr sz="1800">
              <a:solidFill>
                <a:srgbClr val="F8FAFC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0" name="Google Shape;180;g394306fd7be_0_43"/>
          <p:cNvSpPr/>
          <p:nvPr/>
        </p:nvSpPr>
        <p:spPr>
          <a:xfrm>
            <a:off x="6015000" y="2468379"/>
            <a:ext cx="5286300" cy="1100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8FA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Learning Rate</a:t>
            </a:r>
            <a:endParaRPr b="1" sz="1800">
              <a:solidFill>
                <a:srgbClr val="DEFF9A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0.00002</a:t>
            </a:r>
            <a:endParaRPr sz="1800">
              <a:solidFill>
                <a:srgbClr val="F8FAFC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1" name="Google Shape;181;g394306fd7be_0_43"/>
          <p:cNvSpPr/>
          <p:nvPr/>
        </p:nvSpPr>
        <p:spPr>
          <a:xfrm>
            <a:off x="6015000" y="4045252"/>
            <a:ext cx="5286300" cy="1100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8FA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Weight Decay</a:t>
            </a:r>
            <a:endParaRPr b="1" sz="1800">
              <a:solidFill>
                <a:srgbClr val="DEFF9A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0.01 (Regularización)</a:t>
            </a:r>
            <a:endParaRPr sz="1800">
              <a:solidFill>
                <a:srgbClr val="F8FAFC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6" name="Google Shape;18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8"/>
          <p:cNvSpPr txBox="1"/>
          <p:nvPr/>
        </p:nvSpPr>
        <p:spPr>
          <a:xfrm>
            <a:off x="571500" y="5622725"/>
            <a:ext cx="110490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432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Urbanist"/>
              <a:buChar char="●"/>
            </a:pPr>
            <a:r>
              <a:rPr i="1" lang="en-US" sz="135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Se obtuvo una capacidad de detección casi perfecta, con solo 1 falso positivo y 5 falsos negativos sobre una muestra de aprox 1000 sms.</a:t>
            </a:r>
            <a:endParaRPr i="1" sz="135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432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Urbanist"/>
              <a:buChar char="●"/>
            </a:pPr>
            <a:r>
              <a:rPr i="1" lang="en-US" sz="135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El modelo alcanza una pérdida extremadamente baja (&lt; 0.04) de forma estable, demostrando una rápida convergencia.</a:t>
            </a:r>
            <a:endParaRPr i="1" sz="135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8" name="Google Shape;188;p8"/>
          <p:cNvSpPr txBox="1"/>
          <p:nvPr/>
        </p:nvSpPr>
        <p:spPr>
          <a:xfrm>
            <a:off x="571500" y="594300"/>
            <a:ext cx="116016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Arial"/>
              <a:buNone/>
            </a:pPr>
            <a:r>
              <a:rPr b="1" lang="en-US" sz="375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Resultados </a:t>
            </a:r>
            <a:r>
              <a:rPr b="1" lang="en-US" sz="375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Obtenidos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9" name="Google Shape;189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70375" y="1606737"/>
            <a:ext cx="4387425" cy="364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71450" y="1574850"/>
            <a:ext cx="4630551" cy="364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5" name="Google Shape;19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619785"/>
            <a:ext cx="3492400" cy="2171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9650" y="2619785"/>
            <a:ext cx="3492549" cy="2171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27950" y="2619785"/>
            <a:ext cx="3492400" cy="217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1"/>
          <p:cNvSpPr txBox="1"/>
          <p:nvPr/>
        </p:nvSpPr>
        <p:spPr>
          <a:xfrm>
            <a:off x="894241" y="3010310"/>
            <a:ext cx="2847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Superioridad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1"/>
          <p:cNvSpPr txBox="1"/>
          <p:nvPr/>
        </p:nvSpPr>
        <p:spPr>
          <a:xfrm>
            <a:off x="962025" y="3457985"/>
            <a:ext cx="2711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Los Transformers superan al ML tradicional en comprensión semántica del fraude.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1"/>
          <p:cNvSpPr txBox="1"/>
          <p:nvPr/>
        </p:nvSpPr>
        <p:spPr>
          <a:xfrm>
            <a:off x="4672388" y="3010310"/>
            <a:ext cx="2847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Eficiencia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1"/>
          <p:cNvSpPr txBox="1"/>
          <p:nvPr/>
        </p:nvSpPr>
        <p:spPr>
          <a:xfrm>
            <a:off x="4740175" y="3457985"/>
            <a:ext cx="2711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DistilBERT permite tiempos de inferencia ultrarrápidos, ideales para apps móviles.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1"/>
          <p:cNvSpPr txBox="1"/>
          <p:nvPr/>
        </p:nvSpPr>
        <p:spPr>
          <a:xfrm>
            <a:off x="8450691" y="3010310"/>
            <a:ext cx="2847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Escalabilidad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1"/>
          <p:cNvSpPr txBox="1"/>
          <p:nvPr/>
        </p:nvSpPr>
        <p:spPr>
          <a:xfrm>
            <a:off x="8518475" y="3457985"/>
            <a:ext cx="2711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El modelo puede ser fácilmente adaptado a otros idiomas y tipos de banca.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1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Conclusiones </a:t>
            </a:r>
            <a:r>
              <a:rPr b="1" i="0" lang="en-US" sz="37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Finales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9" name="Google Shape;20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2"/>
          <p:cNvSpPr txBox="1"/>
          <p:nvPr/>
        </p:nvSpPr>
        <p:spPr>
          <a:xfrm>
            <a:off x="295275" y="2090737"/>
            <a:ext cx="11601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¿Preguntas?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2"/>
          <p:cNvSpPr txBox="1"/>
          <p:nvPr/>
        </p:nvSpPr>
        <p:spPr>
          <a:xfrm>
            <a:off x="571500" y="3176587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BankShield: Seguridad inteligente para el futuro financiero.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