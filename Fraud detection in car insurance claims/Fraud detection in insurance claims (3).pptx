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6858000" cy="9144000"/>
  <p:embeddedFontLst>
    <p:embeddedFont>
      <p:font typeface="Raleway"/>
      <p:regular r:id="rId25"/>
      <p:bold r:id="rId26"/>
      <p:italic r:id="rId27"/>
      <p:boldItalic r:id="rId28"/>
    </p:embeddedFont>
    <p:embeddedFont>
      <p:font typeface="Roboto"/>
      <p:regular r:id="rId29"/>
      <p:bold r:id="rId30"/>
      <p:italic r:id="rId31"/>
      <p:boldItalic r:id="rId32"/>
    </p:embeddedFont>
    <p:embeddedFont>
      <p:font typeface="Roboto Medium"/>
      <p:regular r:id="rId33"/>
      <p:bold r:id="rId34"/>
      <p:italic r:id="rId35"/>
      <p:boldItalic r:id="rId36"/>
    </p:embeddedFont>
    <p:embeddedFont>
      <p:font typeface="Libre Franklin"/>
      <p:regular r:id="rId37"/>
      <p:bold r:id="rId38"/>
      <p:italic r:id="rId39"/>
      <p:boldItalic r:id="rId40"/>
    </p:embeddedFont>
    <p:embeddedFont>
      <p:font typeface="Mukta"/>
      <p:regular r:id="rId41"/>
      <p:bold r:id="rId42"/>
    </p:embeddedFont>
    <p:embeddedFont>
      <p:font typeface="Manrope"/>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ibreFranklin-boldItalic.fntdata"/><Relationship Id="rId20" Type="http://schemas.openxmlformats.org/officeDocument/2006/relationships/slide" Target="slides/slide16.xml"/><Relationship Id="rId42" Type="http://schemas.openxmlformats.org/officeDocument/2006/relationships/font" Target="fonts/Mukta-bold.fntdata"/><Relationship Id="rId41" Type="http://schemas.openxmlformats.org/officeDocument/2006/relationships/font" Target="fonts/Mukta-regular.fntdata"/><Relationship Id="rId22" Type="http://schemas.openxmlformats.org/officeDocument/2006/relationships/slide" Target="slides/slide18.xml"/><Relationship Id="rId44" Type="http://schemas.openxmlformats.org/officeDocument/2006/relationships/font" Target="fonts/Manrope-bold.fntdata"/><Relationship Id="rId21" Type="http://schemas.openxmlformats.org/officeDocument/2006/relationships/slide" Target="slides/slide17.xml"/><Relationship Id="rId43" Type="http://schemas.openxmlformats.org/officeDocument/2006/relationships/font" Target="fonts/Manrope-regular.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aleway-bold.fntdata"/><Relationship Id="rId25" Type="http://schemas.openxmlformats.org/officeDocument/2006/relationships/font" Target="fonts/Raleway-regular.fntdata"/><Relationship Id="rId28" Type="http://schemas.openxmlformats.org/officeDocument/2006/relationships/font" Target="fonts/Raleway-boldItalic.fntdata"/><Relationship Id="rId27" Type="http://schemas.openxmlformats.org/officeDocument/2006/relationships/font" Target="fonts/Raleway-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7.xml"/><Relationship Id="rId33" Type="http://schemas.openxmlformats.org/officeDocument/2006/relationships/font" Target="fonts/RobotoMedium-regular.fntdata"/><Relationship Id="rId10" Type="http://schemas.openxmlformats.org/officeDocument/2006/relationships/slide" Target="slides/slide6.xml"/><Relationship Id="rId32" Type="http://schemas.openxmlformats.org/officeDocument/2006/relationships/font" Target="fonts/Roboto-boldItalic.fntdata"/><Relationship Id="rId13" Type="http://schemas.openxmlformats.org/officeDocument/2006/relationships/slide" Target="slides/slide9.xml"/><Relationship Id="rId35" Type="http://schemas.openxmlformats.org/officeDocument/2006/relationships/font" Target="fonts/RobotoMedium-italic.fntdata"/><Relationship Id="rId12" Type="http://schemas.openxmlformats.org/officeDocument/2006/relationships/slide" Target="slides/slide8.xml"/><Relationship Id="rId34" Type="http://schemas.openxmlformats.org/officeDocument/2006/relationships/font" Target="fonts/RobotoMedium-bold.fntdata"/><Relationship Id="rId15" Type="http://schemas.openxmlformats.org/officeDocument/2006/relationships/slide" Target="slides/slide11.xml"/><Relationship Id="rId37" Type="http://schemas.openxmlformats.org/officeDocument/2006/relationships/font" Target="fonts/LibreFranklin-regular.fntdata"/><Relationship Id="rId14" Type="http://schemas.openxmlformats.org/officeDocument/2006/relationships/slide" Target="slides/slide10.xml"/><Relationship Id="rId36" Type="http://schemas.openxmlformats.org/officeDocument/2006/relationships/font" Target="fonts/RobotoMedium-boldItalic.fntdata"/><Relationship Id="rId17" Type="http://schemas.openxmlformats.org/officeDocument/2006/relationships/slide" Target="slides/slide13.xml"/><Relationship Id="rId39" Type="http://schemas.openxmlformats.org/officeDocument/2006/relationships/font" Target="fonts/LibreFranklin-italic.fntdata"/><Relationship Id="rId16" Type="http://schemas.openxmlformats.org/officeDocument/2006/relationships/slide" Target="slides/slide12.xml"/><Relationship Id="rId38" Type="http://schemas.openxmlformats.org/officeDocument/2006/relationships/font" Target="fonts/LibreFranklin-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b68483b6a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b68483b6a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2db52f60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2db52f60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dd0c7d16c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dd0c7d16c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Instead of looking at rows in a database, we look at real behaviors. From organized rings smashing luxury cars with hammers to 'Inception Fraud' where someone buys insurance after a crash. Our model is designed to catch these specific patterns.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db0f9523d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db0f9523d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92929"/>
              </a:buClr>
              <a:buSzPts val="1100"/>
              <a:buFont typeface="Arial"/>
              <a:buNone/>
            </a:pPr>
            <a:r>
              <a:rPr lang="en" sz="1000">
                <a:solidFill>
                  <a:srgbClr val="292929"/>
                </a:solidFill>
                <a:latin typeface="Roboto"/>
                <a:ea typeface="Roboto"/>
                <a:cs typeface="Roboto"/>
                <a:sym typeface="Roboto"/>
              </a:rPr>
              <a:t>ABT: </a:t>
            </a:r>
            <a:r>
              <a:rPr lang="en" sz="1000">
                <a:solidFill>
                  <a:srgbClr val="292929"/>
                </a:solidFill>
                <a:latin typeface="Roboto"/>
                <a:ea typeface="Roboto"/>
                <a:cs typeface="Roboto"/>
                <a:sym typeface="Roboto"/>
              </a:rPr>
              <a:t>Car insurance fraud is a big problem because companies lose money on fake claims, AND this hurts their business results. BUT detecting fraud manually is slow and very expensive. THEREFORE, we are using historical data to build a model that predicts if a claim is real or fraudulent.</a:t>
            </a:r>
            <a:endParaRPr sz="5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2c3dc35cb_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2c3dc35cb_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2c3dc35c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2c3dc35c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"Hi everyone. Let’s talk about </a:t>
            </a:r>
            <a:r>
              <a:rPr b="1" lang="en">
                <a:solidFill>
                  <a:schemeClr val="dk1"/>
                </a:solidFill>
              </a:rPr>
              <a:t>Data Processing</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First, we cleaned the data. We confirmed there were </a:t>
            </a:r>
            <a:r>
              <a:rPr b="1" lang="en">
                <a:solidFill>
                  <a:schemeClr val="dk1"/>
                </a:solidFill>
              </a:rPr>
              <a:t>no missing values and no duplicates</a:t>
            </a:r>
            <a:r>
              <a:rPr lang="en">
                <a:solidFill>
                  <a:schemeClr val="dk1"/>
                </a:solidFill>
              </a:rPr>
              <a:t>, so we started with a clean base.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Then, we improved the data with </a:t>
            </a:r>
            <a:r>
              <a:rPr b="1" lang="en">
                <a:solidFill>
                  <a:schemeClr val="dk1"/>
                </a:solidFill>
              </a:rPr>
              <a:t>Feature Engineering</a:t>
            </a:r>
            <a:r>
              <a:rPr lang="en">
                <a:solidFill>
                  <a:schemeClr val="dk1"/>
                </a:solidFill>
              </a:rPr>
              <a:t>: We grouped small categories together to reduce noise. We created new variables, like </a:t>
            </a:r>
            <a:r>
              <a:rPr b="1" lang="en">
                <a:solidFill>
                  <a:schemeClr val="dk1"/>
                </a:solidFill>
              </a:rPr>
              <a:t>'Days to Report'</a:t>
            </a:r>
            <a:r>
              <a:rPr lang="en">
                <a:solidFill>
                  <a:schemeClr val="dk1"/>
                </a:solidFill>
              </a:rPr>
              <a:t>—which measures the delay between the accident and the claim. We also created dummy variables for </a:t>
            </a:r>
            <a:r>
              <a:rPr b="1" lang="en">
                <a:solidFill>
                  <a:schemeClr val="dk1"/>
                </a:solidFill>
              </a:rPr>
              <a:t>'Weekends'</a:t>
            </a:r>
            <a:r>
              <a:rPr lang="en">
                <a:solidFill>
                  <a:schemeClr val="dk1"/>
                </a:solidFill>
              </a:rPr>
              <a:t> and a specific </a:t>
            </a:r>
            <a:r>
              <a:rPr b="1" lang="en">
                <a:solidFill>
                  <a:schemeClr val="dk1"/>
                </a:solidFill>
              </a:rPr>
              <a:t>'Luxury'</a:t>
            </a:r>
            <a:r>
              <a:rPr lang="en">
                <a:solidFill>
                  <a:schemeClr val="dk1"/>
                </a:solidFill>
              </a:rPr>
              <a:t> tag to identify brands like </a:t>
            </a:r>
            <a:r>
              <a:rPr b="1" lang="en">
                <a:solidFill>
                  <a:schemeClr val="dk1"/>
                </a:solidFill>
              </a:rPr>
              <a:t>BMW, Jaguar, Mercedes, Porsche, and Ferrari</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To prepare the data, we applied </a:t>
            </a:r>
            <a:r>
              <a:rPr b="1" lang="en">
                <a:solidFill>
                  <a:schemeClr val="dk1"/>
                </a:solidFill>
              </a:rPr>
              <a:t>One Hot Encoding</a:t>
            </a:r>
            <a:r>
              <a:rPr lang="en">
                <a:solidFill>
                  <a:schemeClr val="dk1"/>
                </a:solidFill>
              </a:rPr>
              <a:t> to 'Vehicle Category' and turned all other text into numbers. Then, we did a standard </a:t>
            </a:r>
            <a:r>
              <a:rPr b="1" lang="en">
                <a:solidFill>
                  <a:schemeClr val="dk1"/>
                </a:solidFill>
              </a:rPr>
              <a:t>80-20 Train-Test split</a:t>
            </a:r>
            <a:r>
              <a:rPr lang="en">
                <a:solidFill>
                  <a:schemeClr val="dk1"/>
                </a:solidFill>
              </a:rPr>
              <a:t>. </a:t>
            </a:r>
            <a:endParaRPr>
              <a:solidFill>
                <a:schemeClr val="dk1"/>
              </a:solidFill>
            </a:endParaRPr>
          </a:p>
          <a:p>
            <a:pPr indent="0" lvl="0" marL="0" rtl="0" algn="l">
              <a:lnSpc>
                <a:spcPct val="115000"/>
              </a:lnSpc>
              <a:spcBef>
                <a:spcPts val="1200"/>
              </a:spcBef>
              <a:spcAft>
                <a:spcPts val="1200"/>
              </a:spcAft>
              <a:buNone/>
            </a:pPr>
            <a:r>
              <a:rPr lang="en" sz="1050">
                <a:solidFill>
                  <a:srgbClr val="1F1F1F"/>
                </a:solidFill>
                <a:latin typeface="Roboto"/>
                <a:ea typeface="Roboto"/>
                <a:cs typeface="Roboto"/>
                <a:sym typeface="Roboto"/>
              </a:rPr>
              <a:t> Finally, and most importantly, we applied SMOTE (synthetic minority over sampling technique) to balance the dataset. This generated synthetic fraud cases in our training set, ensuring the model doesn't ignore the minority class."</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2dc32566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2dc32566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It’s interesting: Fraud happens at both extremes.First, </a:t>
            </a:r>
            <a:r>
              <a:rPr b="1" lang="en">
                <a:solidFill>
                  <a:schemeClr val="dk1"/>
                </a:solidFill>
              </a:rPr>
              <a:t>Cheap Cars</a:t>
            </a:r>
            <a:r>
              <a:rPr lang="en">
                <a:solidFill>
                  <a:schemeClr val="dk1"/>
                </a:solidFill>
              </a:rPr>
              <a:t>. The motive is money. These cars are old and hard to sell. So, owners fake accidents just to sell the car to the insurance company. Second, </a:t>
            </a:r>
            <a:r>
              <a:rPr b="1" lang="en">
                <a:solidFill>
                  <a:schemeClr val="dk1"/>
                </a:solidFill>
              </a:rPr>
              <a:t>Luxury Cars</a:t>
            </a:r>
            <a:r>
              <a:rPr lang="en">
                <a:solidFill>
                  <a:schemeClr val="dk1"/>
                </a:solidFill>
              </a:rPr>
              <a:t>. The motive is </a:t>
            </a:r>
            <a:r>
              <a:rPr b="1" lang="en">
                <a:solidFill>
                  <a:schemeClr val="dk1"/>
                </a:solidFill>
              </a:rPr>
              <a:t>Inflation</a:t>
            </a:r>
            <a:r>
              <a:rPr lang="en">
                <a:solidFill>
                  <a:schemeClr val="dk1"/>
                </a:solidFill>
              </a:rPr>
              <a:t>. Repairs are very expensive, so owners lie about the damage to make a profit.</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92db52f60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92db52f60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As you can see in this chart, being </a:t>
            </a:r>
            <a:r>
              <a:rPr b="1" lang="en">
                <a:solidFill>
                  <a:schemeClr val="dk1"/>
                </a:solidFill>
              </a:rPr>
              <a:t>'At Fault'</a:t>
            </a:r>
            <a:r>
              <a:rPr lang="en">
                <a:solidFill>
                  <a:schemeClr val="dk1"/>
                </a:solidFill>
              </a:rPr>
              <a:t> is a major red flag. People responsible for the accident are much more likely to commit fraud. It makes sense: if you cause the damage, you have a financial motive to lie that victims simply don't have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b9cc17e633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b9cc17e63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Think about it: If you have a real accident, you report it </a:t>
            </a:r>
            <a:r>
              <a:rPr b="1" lang="en">
                <a:solidFill>
                  <a:schemeClr val="dk1"/>
                </a:solidFill>
              </a:rPr>
              <a:t>immediately</a:t>
            </a:r>
            <a:r>
              <a:rPr lang="en">
                <a:solidFill>
                  <a:schemeClr val="dk1"/>
                </a:solidFill>
              </a:rPr>
              <a:t>. You want it fixed </a:t>
            </a:r>
            <a:r>
              <a:rPr i="1" lang="en">
                <a:solidFill>
                  <a:schemeClr val="dk1"/>
                </a:solidFill>
              </a:rPr>
              <a:t>today</a:t>
            </a:r>
            <a:r>
              <a:rPr lang="en">
                <a:solidFill>
                  <a:schemeClr val="dk1"/>
                </a:solidFill>
              </a:rPr>
              <a:t>. That is why the blue bar at Day 0 is so high.</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But when people wait, the risk explodes. If the report is delayed by </a:t>
            </a:r>
            <a:r>
              <a:rPr b="1" lang="en">
                <a:solidFill>
                  <a:schemeClr val="dk1"/>
                </a:solidFill>
              </a:rPr>
              <a:t>8 to 15 days</a:t>
            </a:r>
            <a:r>
              <a:rPr lang="en">
                <a:solidFill>
                  <a:schemeClr val="dk1"/>
                </a:solidFill>
              </a:rPr>
              <a:t>, the chance of fraud actually </a:t>
            </a:r>
            <a:r>
              <a:rPr b="1" lang="en">
                <a:solidFill>
                  <a:schemeClr val="dk1"/>
                </a:solidFill>
              </a:rPr>
              <a:t>doubles</a:t>
            </a:r>
            <a:r>
              <a:rPr lang="en">
                <a:solidFill>
                  <a:schemeClr val="dk1"/>
                </a:solidFill>
              </a:rPr>
              <a:t>. Honest people don't wait two weeks. This delay is a clear sign that someone is planning a story.</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2df330e8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92df330e8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Let’s clarify the Policy Types to understand the risk.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First, Liability: This only covers damage you cause to </a:t>
            </a:r>
            <a:r>
              <a:rPr b="1" lang="en">
                <a:solidFill>
                  <a:schemeClr val="dk1"/>
                </a:solidFill>
              </a:rPr>
              <a:t>other people</a:t>
            </a:r>
            <a:r>
              <a:rPr lang="en">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Second, Collision: This covers your car, but only if you crash.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finally, All Perils: cover liability, colission and total cause incluiding thef or fire</a:t>
            </a:r>
            <a:endParaRPr>
              <a:solidFill>
                <a:schemeClr val="dk1"/>
              </a:solidFill>
            </a:endParaRPr>
          </a:p>
          <a:p>
            <a:pPr indent="0" lvl="0" marL="0" rtl="0" algn="l">
              <a:lnSpc>
                <a:spcPct val="115000"/>
              </a:lnSpc>
              <a:spcBef>
                <a:spcPts val="0"/>
              </a:spcBef>
              <a:spcAft>
                <a:spcPts val="0"/>
              </a:spcAft>
              <a:buNone/>
            </a:pPr>
            <a:r>
              <a:rPr lang="en">
                <a:solidFill>
                  <a:schemeClr val="dk1"/>
                </a:solidFill>
              </a:rPr>
              <a:t>Since 'All Perils' it covers everything, it is the perfect target for fraud.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2db52f60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92db52f60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2dc32566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2dc32566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92db52f602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92db52f602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2db52f602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92db52f602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2db52f602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2db52f602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2db52f60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2db52f60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2db52f60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2db52f60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2db52f60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92db52f60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b0f9523dd_0_25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db0f9523dd_0_25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2db52f60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2db52f60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685800" y="955088"/>
            <a:ext cx="4846500" cy="2676000"/>
          </a:xfrm>
          <a:prstGeom prst="rect">
            <a:avLst/>
          </a:prstGeom>
        </p:spPr>
        <p:txBody>
          <a:bodyPr anchorCtr="0" anchor="b" bIns="91425" lIns="91425" spcFirstLastPara="1" rIns="91425" wrap="square" tIns="91425">
            <a:noAutofit/>
          </a:bodyPr>
          <a:lstStyle>
            <a:lvl1pPr lvl="0" rtl="0">
              <a:spcBef>
                <a:spcPts val="0"/>
              </a:spcBef>
              <a:spcAft>
                <a:spcPts val="0"/>
              </a:spcAft>
              <a:buSzPts val="8500"/>
              <a:buNone/>
              <a:defRPr sz="72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0" name="Google Shape;10;p2"/>
          <p:cNvSpPr txBox="1"/>
          <p:nvPr>
            <p:ph idx="1" type="subTitle"/>
          </p:nvPr>
        </p:nvSpPr>
        <p:spPr>
          <a:xfrm>
            <a:off x="685800" y="3707513"/>
            <a:ext cx="48465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 name="Google Shape;11;p2"/>
          <p:cNvSpPr/>
          <p:nvPr>
            <p:ph idx="2" type="pic"/>
          </p:nvPr>
        </p:nvSpPr>
        <p:spPr>
          <a:xfrm>
            <a:off x="5532300" y="-10350"/>
            <a:ext cx="3611700" cy="5143500"/>
          </a:xfrm>
          <a:prstGeom prst="rect">
            <a:avLst/>
          </a:prstGeom>
          <a:noFill/>
          <a:ln>
            <a:noFill/>
          </a:ln>
        </p:spPr>
      </p:sp>
      <p:sp>
        <p:nvSpPr>
          <p:cNvPr id="12" name="Google Shape;12;p2"/>
          <p:cNvSpPr/>
          <p:nvPr/>
        </p:nvSpPr>
        <p:spPr>
          <a:xfrm rot="10800000">
            <a:off x="-596" y="-465"/>
            <a:ext cx="1365121" cy="1092666"/>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745992" y="1887738"/>
            <a:ext cx="3603900" cy="17127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861675" y="831313"/>
            <a:ext cx="999000" cy="8991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10000"/>
              <a:buNone/>
              <a:defRPr b="0" sz="4100">
                <a:solidFill>
                  <a:schemeClr val="lt1"/>
                </a:solidFill>
                <a:latin typeface="Roboto Medium"/>
                <a:ea typeface="Roboto Medium"/>
                <a:cs typeface="Roboto Medium"/>
                <a:sym typeface="Roboto Medium"/>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6" name="Google Shape;16;p3"/>
          <p:cNvSpPr txBox="1"/>
          <p:nvPr>
            <p:ph idx="1" type="subTitle"/>
          </p:nvPr>
        </p:nvSpPr>
        <p:spPr>
          <a:xfrm>
            <a:off x="745992" y="3600288"/>
            <a:ext cx="3603900" cy="7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8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 name="Google Shape;17;p3"/>
          <p:cNvSpPr/>
          <p:nvPr>
            <p:ph idx="3" type="pic"/>
          </p:nvPr>
        </p:nvSpPr>
        <p:spPr>
          <a:xfrm>
            <a:off x="5486399" y="0"/>
            <a:ext cx="3721200" cy="51435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720000" y="1076800"/>
            <a:ext cx="7704000" cy="401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434343"/>
              </a:buClr>
              <a:buSzPts val="1200"/>
              <a:buAutoNum type="arabicPeriod"/>
              <a:defRPr sz="1200">
                <a:solidFill>
                  <a:srgbClr val="434343"/>
                </a:solidFill>
              </a:defRPr>
            </a:lvl1pPr>
            <a:lvl2pPr indent="-304800" lvl="1" marL="914400">
              <a:spcBef>
                <a:spcPts val="0"/>
              </a:spcBef>
              <a:spcAft>
                <a:spcPts val="0"/>
              </a:spcAft>
              <a:buClr>
                <a:srgbClr val="434343"/>
              </a:buClr>
              <a:buSzPts val="1200"/>
              <a:buFont typeface="Roboto Condensed Light"/>
              <a:buAutoNum type="alphaLcPeriod"/>
              <a:defRPr/>
            </a:lvl2pPr>
            <a:lvl3pPr indent="-304800" lvl="2" marL="1371600">
              <a:spcBef>
                <a:spcPts val="0"/>
              </a:spcBef>
              <a:spcAft>
                <a:spcPts val="0"/>
              </a:spcAft>
              <a:buClr>
                <a:srgbClr val="434343"/>
              </a:buClr>
              <a:buSzPts val="1200"/>
              <a:buFont typeface="Roboto Condensed Light"/>
              <a:buAutoNum type="romanLcPeriod"/>
              <a:defRPr/>
            </a:lvl3pPr>
            <a:lvl4pPr indent="-304800" lvl="3" marL="1828800">
              <a:spcBef>
                <a:spcPts val="0"/>
              </a:spcBef>
              <a:spcAft>
                <a:spcPts val="0"/>
              </a:spcAft>
              <a:buClr>
                <a:srgbClr val="434343"/>
              </a:buClr>
              <a:buSzPts val="1200"/>
              <a:buFont typeface="Roboto Condensed Light"/>
              <a:buAutoNum type="arabicPeriod"/>
              <a:defRPr/>
            </a:lvl4pPr>
            <a:lvl5pPr indent="-304800" lvl="4" marL="2286000">
              <a:spcBef>
                <a:spcPts val="0"/>
              </a:spcBef>
              <a:spcAft>
                <a:spcPts val="0"/>
              </a:spcAft>
              <a:buClr>
                <a:srgbClr val="434343"/>
              </a:buClr>
              <a:buSzPts val="1200"/>
              <a:buFont typeface="Roboto Condensed Light"/>
              <a:buAutoNum type="alphaLcPeriod"/>
              <a:defRPr/>
            </a:lvl5pPr>
            <a:lvl6pPr indent="-304800" lvl="5" marL="2743200">
              <a:spcBef>
                <a:spcPts val="0"/>
              </a:spcBef>
              <a:spcAft>
                <a:spcPts val="0"/>
              </a:spcAft>
              <a:buClr>
                <a:srgbClr val="434343"/>
              </a:buClr>
              <a:buSzPts val="1200"/>
              <a:buFont typeface="Roboto Condensed Light"/>
              <a:buAutoNum type="romanLcPeriod"/>
              <a:defRPr/>
            </a:lvl6pPr>
            <a:lvl7pPr indent="-304800" lvl="6" marL="3200400">
              <a:spcBef>
                <a:spcPts val="0"/>
              </a:spcBef>
              <a:spcAft>
                <a:spcPts val="0"/>
              </a:spcAft>
              <a:buClr>
                <a:srgbClr val="434343"/>
              </a:buClr>
              <a:buSzPts val="1200"/>
              <a:buFont typeface="Roboto Condensed Light"/>
              <a:buAutoNum type="arabicPeriod"/>
              <a:defRPr/>
            </a:lvl7pPr>
            <a:lvl8pPr indent="-304800" lvl="7" marL="3657600">
              <a:spcBef>
                <a:spcPts val="0"/>
              </a:spcBef>
              <a:spcAft>
                <a:spcPts val="0"/>
              </a:spcAft>
              <a:buClr>
                <a:srgbClr val="434343"/>
              </a:buClr>
              <a:buSzPts val="1200"/>
              <a:buFont typeface="Roboto Condensed Light"/>
              <a:buAutoNum type="alphaLcPeriod"/>
              <a:defRPr/>
            </a:lvl8pPr>
            <a:lvl9pPr indent="-304800" lvl="8" marL="4114800">
              <a:spcBef>
                <a:spcPts val="0"/>
              </a:spcBef>
              <a:spcAft>
                <a:spcPts val="0"/>
              </a:spcAft>
              <a:buClr>
                <a:srgbClr val="434343"/>
              </a:buClr>
              <a:buSzPts val="1200"/>
              <a:buFont typeface="Roboto Condensed Light"/>
              <a:buAutoNum type="romanLcPeriod"/>
              <a:defRPr/>
            </a:lvl9pPr>
          </a:lstStyle>
          <a:p/>
        </p:txBody>
      </p:sp>
      <p:sp>
        <p:nvSpPr>
          <p:cNvPr id="21" name="Google Shape;21;p4"/>
          <p:cNvSpPr/>
          <p:nvPr/>
        </p:nvSpPr>
        <p:spPr>
          <a:xfrm flipH="1">
            <a:off x="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4"/>
          <p:cNvSpPr/>
          <p:nvPr/>
        </p:nvSpPr>
        <p:spPr>
          <a:xfrm>
            <a:off x="81328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2" type="title"/>
          </p:nvPr>
        </p:nvSpPr>
        <p:spPr>
          <a:xfrm>
            <a:off x="720000" y="1801575"/>
            <a:ext cx="35223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26" name="Google Shape;26;p5"/>
          <p:cNvSpPr txBox="1"/>
          <p:nvPr>
            <p:ph idx="3" type="title"/>
          </p:nvPr>
        </p:nvSpPr>
        <p:spPr>
          <a:xfrm>
            <a:off x="4901688" y="1801575"/>
            <a:ext cx="35223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27" name="Google Shape;27;p5"/>
          <p:cNvSpPr txBox="1"/>
          <p:nvPr>
            <p:ph idx="1" type="subTitle"/>
          </p:nvPr>
        </p:nvSpPr>
        <p:spPr>
          <a:xfrm>
            <a:off x="720000" y="2195175"/>
            <a:ext cx="3522300" cy="19563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28" name="Google Shape;28;p5"/>
          <p:cNvSpPr txBox="1"/>
          <p:nvPr>
            <p:ph idx="4" type="subTitle"/>
          </p:nvPr>
        </p:nvSpPr>
        <p:spPr>
          <a:xfrm>
            <a:off x="4901700" y="2195175"/>
            <a:ext cx="3522300" cy="19563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Arial"/>
              <a:buChar char="•"/>
              <a:defRPr/>
            </a:lvl1pPr>
            <a:lvl2pPr lvl="1" rtl="0" algn="ctr">
              <a:spcBef>
                <a:spcPts val="0"/>
              </a:spcBef>
              <a:spcAft>
                <a:spcPts val="0"/>
              </a:spcAft>
              <a:buClr>
                <a:schemeClr val="dk1"/>
              </a:buClr>
              <a:buSzPts val="1200"/>
              <a:buFont typeface="Arial"/>
              <a:buChar char="○"/>
              <a:defRPr/>
            </a:lvl2pPr>
            <a:lvl3pPr lvl="2" rtl="0" algn="ctr">
              <a:spcBef>
                <a:spcPts val="0"/>
              </a:spcBef>
              <a:spcAft>
                <a:spcPts val="0"/>
              </a:spcAft>
              <a:buClr>
                <a:schemeClr val="dk1"/>
              </a:buClr>
              <a:buSzPts val="1200"/>
              <a:buFont typeface="Arial"/>
              <a:buChar char="■"/>
              <a:defRPr/>
            </a:lvl3pPr>
            <a:lvl4pPr lvl="3" rtl="0" algn="ctr">
              <a:spcBef>
                <a:spcPts val="0"/>
              </a:spcBef>
              <a:spcAft>
                <a:spcPts val="0"/>
              </a:spcAft>
              <a:buClr>
                <a:schemeClr val="dk1"/>
              </a:buClr>
              <a:buSzPts val="1200"/>
              <a:buFont typeface="Arial"/>
              <a:buChar char="●"/>
              <a:defRPr/>
            </a:lvl4pPr>
            <a:lvl5pPr lvl="4" rtl="0" algn="ctr">
              <a:spcBef>
                <a:spcPts val="0"/>
              </a:spcBef>
              <a:spcAft>
                <a:spcPts val="0"/>
              </a:spcAft>
              <a:buClr>
                <a:schemeClr val="dk1"/>
              </a:buClr>
              <a:buSzPts val="1200"/>
              <a:buFont typeface="Arial"/>
              <a:buChar char="○"/>
              <a:defRPr/>
            </a:lvl5pPr>
            <a:lvl6pPr lvl="5" rtl="0" algn="ctr">
              <a:spcBef>
                <a:spcPts val="0"/>
              </a:spcBef>
              <a:spcAft>
                <a:spcPts val="0"/>
              </a:spcAft>
              <a:buClr>
                <a:schemeClr val="dk1"/>
              </a:buClr>
              <a:buSzPts val="1200"/>
              <a:buFont typeface="Arial"/>
              <a:buChar char="■"/>
              <a:defRPr/>
            </a:lvl6pPr>
            <a:lvl7pPr lvl="6" rtl="0" algn="ctr">
              <a:spcBef>
                <a:spcPts val="0"/>
              </a:spcBef>
              <a:spcAft>
                <a:spcPts val="0"/>
              </a:spcAft>
              <a:buClr>
                <a:schemeClr val="dk1"/>
              </a:buClr>
              <a:buSzPts val="1200"/>
              <a:buFont typeface="Arial"/>
              <a:buChar char="●"/>
              <a:defRPr/>
            </a:lvl7pPr>
            <a:lvl8pPr lvl="7" rtl="0" algn="ctr">
              <a:spcBef>
                <a:spcPts val="0"/>
              </a:spcBef>
              <a:spcAft>
                <a:spcPts val="0"/>
              </a:spcAft>
              <a:buClr>
                <a:schemeClr val="dk1"/>
              </a:buClr>
              <a:buSzPts val="1200"/>
              <a:buFont typeface="Arial"/>
              <a:buChar char="○"/>
              <a:defRPr/>
            </a:lvl8pPr>
            <a:lvl9pPr lvl="8" rtl="0" algn="ctr">
              <a:spcBef>
                <a:spcPts val="0"/>
              </a:spcBef>
              <a:spcAft>
                <a:spcPts val="0"/>
              </a:spcAft>
              <a:buClr>
                <a:schemeClr val="dk1"/>
              </a:buClr>
              <a:buSzPts val="1200"/>
              <a:buFont typeface="Arial"/>
              <a:buChar char="■"/>
              <a:defRPr/>
            </a:lvl9pPr>
          </a:lstStyle>
          <a:p/>
        </p:txBody>
      </p:sp>
      <p:sp>
        <p:nvSpPr>
          <p:cNvPr id="29" name="Google Shape;29;p5"/>
          <p:cNvSpPr/>
          <p:nvPr/>
        </p:nvSpPr>
        <p:spPr>
          <a:xfrm rot="10800000">
            <a:off x="-596" y="-465"/>
            <a:ext cx="1365121" cy="1092666"/>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6"/>
          <p:cNvSpPr/>
          <p:nvPr/>
        </p:nvSpPr>
        <p:spPr>
          <a:xfrm flipH="1">
            <a:off x="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6"/>
          <p:cNvSpPr/>
          <p:nvPr/>
        </p:nvSpPr>
        <p:spPr>
          <a:xfrm>
            <a:off x="81328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7"/>
          <p:cNvSpPr txBox="1"/>
          <p:nvPr>
            <p:ph type="title"/>
          </p:nvPr>
        </p:nvSpPr>
        <p:spPr>
          <a:xfrm>
            <a:off x="3561900" y="1349000"/>
            <a:ext cx="4568100" cy="1322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4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subTitle"/>
          </p:nvPr>
        </p:nvSpPr>
        <p:spPr>
          <a:xfrm>
            <a:off x="3561900" y="2671625"/>
            <a:ext cx="4568100" cy="112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7" name="Google Shape;37;p7"/>
          <p:cNvSpPr/>
          <p:nvPr>
            <p:ph idx="2" type="pic"/>
          </p:nvPr>
        </p:nvSpPr>
        <p:spPr>
          <a:xfrm>
            <a:off x="0" y="0"/>
            <a:ext cx="3168000" cy="5143500"/>
          </a:xfrm>
          <a:prstGeom prst="rect">
            <a:avLst/>
          </a:prstGeom>
          <a:noFill/>
          <a:ln>
            <a:noFill/>
          </a:ln>
        </p:spPr>
      </p:sp>
      <p:sp>
        <p:nvSpPr>
          <p:cNvPr id="38" name="Google Shape;38;p7"/>
          <p:cNvSpPr/>
          <p:nvPr/>
        </p:nvSpPr>
        <p:spPr>
          <a:xfrm rot="-5400000">
            <a:off x="7897791" y="111462"/>
            <a:ext cx="1387225" cy="1108904"/>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685800" y="1764600"/>
            <a:ext cx="4103700" cy="161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p:nvPr>
            <p:ph idx="2" type="pic"/>
          </p:nvPr>
        </p:nvSpPr>
        <p:spPr>
          <a:xfrm>
            <a:off x="5043975" y="-22111"/>
            <a:ext cx="4103700" cy="5242500"/>
          </a:xfrm>
          <a:prstGeom prst="rect">
            <a:avLst/>
          </a:prstGeom>
          <a:noFill/>
          <a:ln>
            <a:noFill/>
          </a:ln>
        </p:spPr>
      </p:sp>
      <p:sp>
        <p:nvSpPr>
          <p:cNvPr id="42" name="Google Shape;42;p8"/>
          <p:cNvSpPr/>
          <p:nvPr/>
        </p:nvSpPr>
        <p:spPr>
          <a:xfrm rot="10800000">
            <a:off x="-92045" y="-98194"/>
            <a:ext cx="1555694" cy="1245203"/>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9"/>
          <p:cNvSpPr/>
          <p:nvPr/>
        </p:nvSpPr>
        <p:spPr>
          <a:xfrm>
            <a:off x="-50" y="4513500"/>
            <a:ext cx="9144000" cy="642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idx="1" type="body"/>
          </p:nvPr>
        </p:nvSpPr>
        <p:spPr>
          <a:xfrm>
            <a:off x="720000" y="1570575"/>
            <a:ext cx="4047000" cy="2186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rgbClr val="999999"/>
              </a:buClr>
              <a:buSzPts val="800"/>
              <a:buFont typeface="Open Sans"/>
              <a:buChar char="-"/>
              <a:defRPr/>
            </a:lvl1pPr>
            <a:lvl2pPr indent="-279400" lvl="1" marL="914400">
              <a:spcBef>
                <a:spcPts val="0"/>
              </a:spcBef>
              <a:spcAft>
                <a:spcPts val="0"/>
              </a:spcAft>
              <a:buClr>
                <a:srgbClr val="999999"/>
              </a:buClr>
              <a:buSzPts val="800"/>
              <a:buFont typeface="Open Sans"/>
              <a:buChar char="○"/>
              <a:defRPr/>
            </a:lvl2pPr>
            <a:lvl3pPr indent="-279400" lvl="2" marL="1371600">
              <a:spcBef>
                <a:spcPts val="0"/>
              </a:spcBef>
              <a:spcAft>
                <a:spcPts val="0"/>
              </a:spcAft>
              <a:buClr>
                <a:srgbClr val="999999"/>
              </a:buClr>
              <a:buSzPts val="800"/>
              <a:buFont typeface="Open Sans"/>
              <a:buChar char="■"/>
              <a:defRPr/>
            </a:lvl3pPr>
            <a:lvl4pPr indent="-279400" lvl="3" marL="1828800">
              <a:spcBef>
                <a:spcPts val="0"/>
              </a:spcBef>
              <a:spcAft>
                <a:spcPts val="0"/>
              </a:spcAft>
              <a:buClr>
                <a:srgbClr val="999999"/>
              </a:buClr>
              <a:buSzPts val="800"/>
              <a:buFont typeface="Open Sans"/>
              <a:buChar char="●"/>
              <a:defRPr/>
            </a:lvl4pPr>
            <a:lvl5pPr indent="-304800" lvl="4" marL="2286000">
              <a:spcBef>
                <a:spcPts val="0"/>
              </a:spcBef>
              <a:spcAft>
                <a:spcPts val="0"/>
              </a:spcAft>
              <a:buClr>
                <a:srgbClr val="999999"/>
              </a:buClr>
              <a:buSzPts val="1200"/>
              <a:buFont typeface="Open Sans"/>
              <a:buChar char="○"/>
              <a:defRPr/>
            </a:lvl5pPr>
            <a:lvl6pPr indent="-304800" lvl="5" marL="2743200">
              <a:spcBef>
                <a:spcPts val="0"/>
              </a:spcBef>
              <a:spcAft>
                <a:spcPts val="0"/>
              </a:spcAft>
              <a:buClr>
                <a:srgbClr val="999999"/>
              </a:buClr>
              <a:buSzPts val="1200"/>
              <a:buFont typeface="Open Sans"/>
              <a:buChar char="■"/>
              <a:defRPr/>
            </a:lvl6pPr>
            <a:lvl7pPr indent="-273050" lvl="6" marL="3200400">
              <a:spcBef>
                <a:spcPts val="0"/>
              </a:spcBef>
              <a:spcAft>
                <a:spcPts val="0"/>
              </a:spcAft>
              <a:buClr>
                <a:srgbClr val="999999"/>
              </a:buClr>
              <a:buSzPts val="700"/>
              <a:buFont typeface="Open Sans"/>
              <a:buChar char="●"/>
              <a:defRPr/>
            </a:lvl7pPr>
            <a:lvl8pPr indent="-273050" lvl="7" marL="3657600">
              <a:spcBef>
                <a:spcPts val="0"/>
              </a:spcBef>
              <a:spcAft>
                <a:spcPts val="0"/>
              </a:spcAft>
              <a:buClr>
                <a:srgbClr val="999999"/>
              </a:buClr>
              <a:buSzPts val="700"/>
              <a:buFont typeface="Open Sans"/>
              <a:buChar char="○"/>
              <a:defRPr/>
            </a:lvl8pPr>
            <a:lvl9pPr indent="-266700" lvl="8" marL="4114800">
              <a:spcBef>
                <a:spcPts val="0"/>
              </a:spcBef>
              <a:spcAft>
                <a:spcPts val="0"/>
              </a:spcAft>
              <a:buClr>
                <a:srgbClr val="999999"/>
              </a:buClr>
              <a:buSzPts val="600"/>
              <a:buFont typeface="Open Sans"/>
              <a:buChar char="■"/>
              <a:defRPr/>
            </a:lvl9pPr>
          </a:lstStyle>
          <a:p/>
        </p:txBody>
      </p:sp>
      <p:sp>
        <p:nvSpPr>
          <p:cNvPr id="46" name="Google Shape;46;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9"/>
          <p:cNvSpPr/>
          <p:nvPr/>
        </p:nvSpPr>
        <p:spPr>
          <a:xfrm rot="-5400000">
            <a:off x="7897791" y="111462"/>
            <a:ext cx="1387225" cy="1108904"/>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p:nvPr>
            <p:ph idx="2" type="pic"/>
          </p:nvPr>
        </p:nvSpPr>
        <p:spPr>
          <a:xfrm>
            <a:off x="0" y="0"/>
            <a:ext cx="9144000" cy="5143500"/>
          </a:xfrm>
          <a:prstGeom prst="rect">
            <a:avLst/>
          </a:prstGeom>
          <a:noFill/>
          <a:ln>
            <a:noFill/>
          </a:ln>
        </p:spPr>
      </p:sp>
      <p:sp>
        <p:nvSpPr>
          <p:cNvPr id="50" name="Google Shape;50;p10"/>
          <p:cNvSpPr txBox="1"/>
          <p:nvPr>
            <p:ph idx="1" type="body"/>
          </p:nvPr>
        </p:nvSpPr>
        <p:spPr>
          <a:xfrm>
            <a:off x="1439250" y="3811325"/>
            <a:ext cx="6265500" cy="60510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2800"/>
              <a:buFont typeface="Raleway"/>
              <a:buNone/>
              <a:defRPr b="1" sz="2800">
                <a:solidFill>
                  <a:schemeClr val="dk1"/>
                </a:solidFill>
                <a:latin typeface="Raleway"/>
                <a:ea typeface="Raleway"/>
                <a:cs typeface="Raleway"/>
                <a:sym typeface="Raleway"/>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txBox="1"/>
          <p:nvPr>
            <p:ph hasCustomPrompt="1" type="title"/>
          </p:nvPr>
        </p:nvSpPr>
        <p:spPr>
          <a:xfrm>
            <a:off x="685800" y="1830575"/>
            <a:ext cx="4814700" cy="9153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10000"/>
              <a:buNone/>
              <a:defRPr b="0" sz="6000">
                <a:solidFill>
                  <a:schemeClr val="accent3"/>
                </a:solidFill>
                <a:latin typeface="Roboto Medium"/>
                <a:ea typeface="Roboto Medium"/>
                <a:cs typeface="Roboto Medium"/>
                <a:sym typeface="Roboto Medium"/>
              </a:defRPr>
            </a:lvl1pPr>
            <a:lvl2pPr lvl="1">
              <a:spcBef>
                <a:spcPts val="0"/>
              </a:spcBef>
              <a:spcAft>
                <a:spcPts val="0"/>
              </a:spcAft>
              <a:buSzPts val="10000"/>
              <a:buNone/>
              <a:defRPr sz="10000"/>
            </a:lvl2pPr>
            <a:lvl3pPr lvl="2">
              <a:spcBef>
                <a:spcPts val="0"/>
              </a:spcBef>
              <a:spcAft>
                <a:spcPts val="0"/>
              </a:spcAft>
              <a:buSzPts val="10000"/>
              <a:buNone/>
              <a:defRPr sz="10000"/>
            </a:lvl3pPr>
            <a:lvl4pPr lvl="3">
              <a:spcBef>
                <a:spcPts val="0"/>
              </a:spcBef>
              <a:spcAft>
                <a:spcPts val="0"/>
              </a:spcAft>
              <a:buSzPts val="10000"/>
              <a:buNone/>
              <a:defRPr sz="10000"/>
            </a:lvl4pPr>
            <a:lvl5pPr lvl="4">
              <a:spcBef>
                <a:spcPts val="0"/>
              </a:spcBef>
              <a:spcAft>
                <a:spcPts val="0"/>
              </a:spcAft>
              <a:buSzPts val="10000"/>
              <a:buNone/>
              <a:defRPr sz="10000"/>
            </a:lvl5pPr>
            <a:lvl6pPr lvl="5">
              <a:spcBef>
                <a:spcPts val="0"/>
              </a:spcBef>
              <a:spcAft>
                <a:spcPts val="0"/>
              </a:spcAft>
              <a:buSzPts val="10000"/>
              <a:buNone/>
              <a:defRPr sz="10000"/>
            </a:lvl6pPr>
            <a:lvl7pPr lvl="6">
              <a:spcBef>
                <a:spcPts val="0"/>
              </a:spcBef>
              <a:spcAft>
                <a:spcPts val="0"/>
              </a:spcAft>
              <a:buSzPts val="10000"/>
              <a:buNone/>
              <a:defRPr sz="10000"/>
            </a:lvl7pPr>
            <a:lvl8pPr lvl="7">
              <a:spcBef>
                <a:spcPts val="0"/>
              </a:spcBef>
              <a:spcAft>
                <a:spcPts val="0"/>
              </a:spcAft>
              <a:buSzPts val="10000"/>
              <a:buNone/>
              <a:defRPr sz="10000"/>
            </a:lvl8pPr>
            <a:lvl9pPr lvl="8">
              <a:spcBef>
                <a:spcPts val="0"/>
              </a:spcBef>
              <a:spcAft>
                <a:spcPts val="0"/>
              </a:spcAft>
              <a:buSzPts val="10000"/>
              <a:buNone/>
              <a:defRPr sz="10000"/>
            </a:lvl9pPr>
          </a:lstStyle>
          <a:p>
            <a:r>
              <a:t>xx%</a:t>
            </a:r>
          </a:p>
        </p:txBody>
      </p:sp>
      <p:sp>
        <p:nvSpPr>
          <p:cNvPr id="53" name="Google Shape;53;p11"/>
          <p:cNvSpPr txBox="1"/>
          <p:nvPr>
            <p:ph idx="1" type="subTitle"/>
          </p:nvPr>
        </p:nvSpPr>
        <p:spPr>
          <a:xfrm>
            <a:off x="685800" y="2845225"/>
            <a:ext cx="4814700" cy="4677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4" name="Google Shape;54;p11"/>
          <p:cNvSpPr/>
          <p:nvPr>
            <p:ph idx="2" type="pic"/>
          </p:nvPr>
        </p:nvSpPr>
        <p:spPr>
          <a:xfrm>
            <a:off x="5917800" y="11050"/>
            <a:ext cx="3240900" cy="5143500"/>
          </a:xfrm>
          <a:prstGeom prst="rect">
            <a:avLst/>
          </a:prstGeom>
          <a:noFill/>
          <a:ln>
            <a:noFill/>
          </a:ln>
        </p:spPr>
      </p:sp>
      <p:sp>
        <p:nvSpPr>
          <p:cNvPr id="55" name="Google Shape;55;p11"/>
          <p:cNvSpPr/>
          <p:nvPr/>
        </p:nvSpPr>
        <p:spPr>
          <a:xfrm rot="5400000">
            <a:off x="-155349" y="4050894"/>
            <a:ext cx="1548530" cy="1237847"/>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56" name="Shape 5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57" name="Shape 57"/>
        <p:cNvGrpSpPr/>
        <p:nvPr/>
      </p:nvGrpSpPr>
      <p:grpSpPr>
        <a:xfrm>
          <a:off x="0" y="0"/>
          <a:ext cx="0" cy="0"/>
          <a:chOff x="0" y="0"/>
          <a:chExt cx="0" cy="0"/>
        </a:xfrm>
      </p:grpSpPr>
      <p:sp>
        <p:nvSpPr>
          <p:cNvPr id="58" name="Google Shape;5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 name="Google Shape;59;p13"/>
          <p:cNvSpPr txBox="1"/>
          <p:nvPr>
            <p:ph idx="2" type="title"/>
          </p:nvPr>
        </p:nvSpPr>
        <p:spPr>
          <a:xfrm>
            <a:off x="1648300" y="1743700"/>
            <a:ext cx="2583900" cy="4245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0" name="Google Shape;60;p13"/>
          <p:cNvSpPr txBox="1"/>
          <p:nvPr>
            <p:ph idx="3" type="title"/>
          </p:nvPr>
        </p:nvSpPr>
        <p:spPr>
          <a:xfrm>
            <a:off x="5840075" y="1743700"/>
            <a:ext cx="2583900" cy="4245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1" name="Google Shape;61;p13"/>
          <p:cNvSpPr txBox="1"/>
          <p:nvPr>
            <p:ph idx="1" type="subTitle"/>
          </p:nvPr>
        </p:nvSpPr>
        <p:spPr>
          <a:xfrm>
            <a:off x="1648310" y="2080575"/>
            <a:ext cx="2583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62" name="Google Shape;62;p13"/>
          <p:cNvSpPr txBox="1"/>
          <p:nvPr>
            <p:ph idx="4" type="subTitle"/>
          </p:nvPr>
        </p:nvSpPr>
        <p:spPr>
          <a:xfrm>
            <a:off x="5840085" y="2080575"/>
            <a:ext cx="2583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63" name="Google Shape;63;p13"/>
          <p:cNvSpPr txBox="1"/>
          <p:nvPr>
            <p:ph idx="5" type="title"/>
          </p:nvPr>
        </p:nvSpPr>
        <p:spPr>
          <a:xfrm>
            <a:off x="1648300" y="3268050"/>
            <a:ext cx="2583900" cy="4245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4" name="Google Shape;64;p13"/>
          <p:cNvSpPr txBox="1"/>
          <p:nvPr>
            <p:ph idx="6" type="title"/>
          </p:nvPr>
        </p:nvSpPr>
        <p:spPr>
          <a:xfrm>
            <a:off x="5840075" y="3268050"/>
            <a:ext cx="2583900" cy="4245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5" name="Google Shape;65;p13"/>
          <p:cNvSpPr txBox="1"/>
          <p:nvPr>
            <p:ph idx="7" type="subTitle"/>
          </p:nvPr>
        </p:nvSpPr>
        <p:spPr>
          <a:xfrm>
            <a:off x="1648339" y="3605075"/>
            <a:ext cx="2583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66" name="Google Shape;66;p13"/>
          <p:cNvSpPr txBox="1"/>
          <p:nvPr>
            <p:ph idx="8" type="subTitle"/>
          </p:nvPr>
        </p:nvSpPr>
        <p:spPr>
          <a:xfrm>
            <a:off x="5840090" y="3605075"/>
            <a:ext cx="2583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67" name="Google Shape;67;p13"/>
          <p:cNvSpPr txBox="1"/>
          <p:nvPr>
            <p:ph hasCustomPrompt="1" idx="9" type="title"/>
          </p:nvPr>
        </p:nvSpPr>
        <p:spPr>
          <a:xfrm>
            <a:off x="720010" y="1792299"/>
            <a:ext cx="775800" cy="7758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a:solidFill>
                  <a:schemeClr val="lt1"/>
                </a:solidFill>
                <a:latin typeface="Roboto Medium"/>
                <a:ea typeface="Roboto Medium"/>
                <a:cs typeface="Roboto Medium"/>
                <a:sym typeface="Roboto Medium"/>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68" name="Google Shape;68;p13"/>
          <p:cNvSpPr txBox="1"/>
          <p:nvPr>
            <p:ph hasCustomPrompt="1" idx="13" type="title"/>
          </p:nvPr>
        </p:nvSpPr>
        <p:spPr>
          <a:xfrm>
            <a:off x="720010" y="3319199"/>
            <a:ext cx="775800" cy="7758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a:solidFill>
                  <a:schemeClr val="lt1"/>
                </a:solidFill>
                <a:latin typeface="Roboto Medium"/>
                <a:ea typeface="Roboto Medium"/>
                <a:cs typeface="Roboto Medium"/>
                <a:sym typeface="Roboto Medium"/>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69" name="Google Shape;69;p13"/>
          <p:cNvSpPr txBox="1"/>
          <p:nvPr>
            <p:ph hasCustomPrompt="1" idx="14" type="title"/>
          </p:nvPr>
        </p:nvSpPr>
        <p:spPr>
          <a:xfrm>
            <a:off x="4911910" y="1792299"/>
            <a:ext cx="775800" cy="7758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a:solidFill>
                  <a:schemeClr val="lt1"/>
                </a:solidFill>
                <a:latin typeface="Roboto Medium"/>
                <a:ea typeface="Roboto Medium"/>
                <a:cs typeface="Roboto Medium"/>
                <a:sym typeface="Roboto Medium"/>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70" name="Google Shape;70;p13"/>
          <p:cNvSpPr txBox="1"/>
          <p:nvPr>
            <p:ph hasCustomPrompt="1" idx="15" type="title"/>
          </p:nvPr>
        </p:nvSpPr>
        <p:spPr>
          <a:xfrm>
            <a:off x="4911910" y="3319199"/>
            <a:ext cx="775800" cy="7758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a:solidFill>
                  <a:schemeClr val="lt1"/>
                </a:solidFill>
                <a:latin typeface="Roboto Medium"/>
                <a:ea typeface="Roboto Medium"/>
                <a:cs typeface="Roboto Medium"/>
                <a:sym typeface="Roboto Medium"/>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71" name="Google Shape;71;p13"/>
          <p:cNvSpPr/>
          <p:nvPr/>
        </p:nvSpPr>
        <p:spPr>
          <a:xfrm rot="10800000">
            <a:off x="4523" y="360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13"/>
          <p:cNvSpPr/>
          <p:nvPr/>
        </p:nvSpPr>
        <p:spPr>
          <a:xfrm>
            <a:off x="7861623" y="411925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3">
    <p:spTree>
      <p:nvGrpSpPr>
        <p:cNvPr id="73" name="Shape 73"/>
        <p:cNvGrpSpPr/>
        <p:nvPr/>
      </p:nvGrpSpPr>
      <p:grpSpPr>
        <a:xfrm>
          <a:off x="0" y="0"/>
          <a:ext cx="0" cy="0"/>
          <a:chOff x="0" y="0"/>
          <a:chExt cx="0" cy="0"/>
        </a:xfrm>
      </p:grpSpPr>
      <p:sp>
        <p:nvSpPr>
          <p:cNvPr id="74" name="Google Shape;74;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4"/>
          <p:cNvSpPr/>
          <p:nvPr/>
        </p:nvSpPr>
        <p:spPr>
          <a:xfrm flipH="1">
            <a:off x="4523" y="411925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14"/>
          <p:cNvSpPr/>
          <p:nvPr/>
        </p:nvSpPr>
        <p:spPr>
          <a:xfrm flipH="1" rot="10800000">
            <a:off x="7861623" y="360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
    <p:spTree>
      <p:nvGrpSpPr>
        <p:cNvPr id="77" name="Shape 77"/>
        <p:cNvGrpSpPr/>
        <p:nvPr/>
      </p:nvGrpSpPr>
      <p:grpSpPr>
        <a:xfrm>
          <a:off x="0" y="0"/>
          <a:ext cx="0" cy="0"/>
          <a:chOff x="0" y="0"/>
          <a:chExt cx="0" cy="0"/>
        </a:xfrm>
      </p:grpSpPr>
      <p:sp>
        <p:nvSpPr>
          <p:cNvPr id="78" name="Google Shape;7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 name="Google Shape;79;p15"/>
          <p:cNvSpPr/>
          <p:nvPr/>
        </p:nvSpPr>
        <p:spPr>
          <a:xfrm>
            <a:off x="813280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15"/>
          <p:cNvSpPr/>
          <p:nvPr/>
        </p:nvSpPr>
        <p:spPr>
          <a:xfrm flipH="1" rot="5400000">
            <a:off x="-100900" y="100901"/>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1">
    <p:spTree>
      <p:nvGrpSpPr>
        <p:cNvPr id="81" name="Shape 81"/>
        <p:cNvGrpSpPr/>
        <p:nvPr/>
      </p:nvGrpSpPr>
      <p:grpSpPr>
        <a:xfrm>
          <a:off x="0" y="0"/>
          <a:ext cx="0" cy="0"/>
          <a:chOff x="0" y="0"/>
          <a:chExt cx="0" cy="0"/>
        </a:xfrm>
      </p:grpSpPr>
      <p:sp>
        <p:nvSpPr>
          <p:cNvPr id="82" name="Google Shape;82;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720000" y="1203200"/>
            <a:ext cx="7704000" cy="1993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Char char="●"/>
              <a:defRPr sz="1400"/>
            </a:lvl1pPr>
            <a:lvl2pPr indent="-304800" lvl="1" marL="914400" rtl="0">
              <a:spcBef>
                <a:spcPts val="0"/>
              </a:spcBef>
              <a:spcAft>
                <a:spcPts val="0"/>
              </a:spcAft>
              <a:buClr>
                <a:srgbClr val="434343"/>
              </a:buClr>
              <a:buSzPts val="1200"/>
              <a:buFont typeface="Roboto Condensed Light"/>
              <a:buChar char="○"/>
              <a:defRPr/>
            </a:lvl2pPr>
            <a:lvl3pPr indent="-304800" lvl="2" marL="1371600" rtl="0">
              <a:spcBef>
                <a:spcPts val="0"/>
              </a:spcBef>
              <a:spcAft>
                <a:spcPts val="0"/>
              </a:spcAft>
              <a:buClr>
                <a:srgbClr val="434343"/>
              </a:buClr>
              <a:buSzPts val="1200"/>
              <a:buFont typeface="Roboto Condensed Light"/>
              <a:buChar char="■"/>
              <a:defRPr/>
            </a:lvl3pPr>
            <a:lvl4pPr indent="-304800" lvl="3" marL="1828800" rtl="0">
              <a:spcBef>
                <a:spcPts val="0"/>
              </a:spcBef>
              <a:spcAft>
                <a:spcPts val="0"/>
              </a:spcAft>
              <a:buClr>
                <a:srgbClr val="434343"/>
              </a:buClr>
              <a:buSzPts val="1200"/>
              <a:buFont typeface="Roboto Condensed Light"/>
              <a:buChar char="●"/>
              <a:defRPr/>
            </a:lvl4pPr>
            <a:lvl5pPr indent="-304800" lvl="4" marL="2286000" rtl="0">
              <a:spcBef>
                <a:spcPts val="0"/>
              </a:spcBef>
              <a:spcAft>
                <a:spcPts val="0"/>
              </a:spcAft>
              <a:buClr>
                <a:srgbClr val="434343"/>
              </a:buClr>
              <a:buSzPts val="1200"/>
              <a:buFont typeface="Roboto Condensed Light"/>
              <a:buChar char="○"/>
              <a:defRPr/>
            </a:lvl5pPr>
            <a:lvl6pPr indent="-304800" lvl="5" marL="2743200" rtl="0">
              <a:spcBef>
                <a:spcPts val="0"/>
              </a:spcBef>
              <a:spcAft>
                <a:spcPts val="0"/>
              </a:spcAft>
              <a:buClr>
                <a:srgbClr val="434343"/>
              </a:buClr>
              <a:buSzPts val="1200"/>
              <a:buFont typeface="Roboto Condensed Light"/>
              <a:buChar char="■"/>
              <a:defRPr/>
            </a:lvl6pPr>
            <a:lvl7pPr indent="-304800" lvl="6" marL="3200400" rtl="0">
              <a:spcBef>
                <a:spcPts val="0"/>
              </a:spcBef>
              <a:spcAft>
                <a:spcPts val="0"/>
              </a:spcAft>
              <a:buClr>
                <a:srgbClr val="434343"/>
              </a:buClr>
              <a:buSzPts val="1200"/>
              <a:buFont typeface="Roboto Condensed Light"/>
              <a:buChar char="●"/>
              <a:defRPr/>
            </a:lvl7pPr>
            <a:lvl8pPr indent="-304800" lvl="7" marL="3657600" rtl="0">
              <a:spcBef>
                <a:spcPts val="0"/>
              </a:spcBef>
              <a:spcAft>
                <a:spcPts val="0"/>
              </a:spcAft>
              <a:buClr>
                <a:srgbClr val="434343"/>
              </a:buClr>
              <a:buSzPts val="1200"/>
              <a:buFont typeface="Roboto Condensed Light"/>
              <a:buChar char="○"/>
              <a:defRPr/>
            </a:lvl8pPr>
            <a:lvl9pPr indent="-304800" lvl="8" marL="4114800" rtl="0">
              <a:spcBef>
                <a:spcPts val="0"/>
              </a:spcBef>
              <a:spcAft>
                <a:spcPts val="0"/>
              </a:spcAft>
              <a:buClr>
                <a:srgbClr val="434343"/>
              </a:buClr>
              <a:buSzPts val="1200"/>
              <a:buFont typeface="Roboto Condensed Light"/>
              <a:buChar char="■"/>
              <a:defRPr/>
            </a:lvl9pPr>
          </a:lstStyle>
          <a:p/>
        </p:txBody>
      </p:sp>
      <p:sp>
        <p:nvSpPr>
          <p:cNvPr id="84" name="Google Shape;84;p16"/>
          <p:cNvSpPr/>
          <p:nvPr/>
        </p:nvSpPr>
        <p:spPr>
          <a:xfrm flipH="1" rot="10800000">
            <a:off x="7861623" y="360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16"/>
          <p:cNvSpPr/>
          <p:nvPr/>
        </p:nvSpPr>
        <p:spPr>
          <a:xfrm flipH="1">
            <a:off x="4523" y="411925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
    <p:spTree>
      <p:nvGrpSpPr>
        <p:cNvPr id="86" name="Shape 86"/>
        <p:cNvGrpSpPr/>
        <p:nvPr/>
      </p:nvGrpSpPr>
      <p:grpSpPr>
        <a:xfrm>
          <a:off x="0" y="0"/>
          <a:ext cx="0" cy="0"/>
          <a:chOff x="0" y="0"/>
          <a:chExt cx="0" cy="0"/>
        </a:xfrm>
      </p:grpSpPr>
      <p:sp>
        <p:nvSpPr>
          <p:cNvPr id="87" name="Google Shape;87;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7"/>
          <p:cNvSpPr txBox="1"/>
          <p:nvPr>
            <p:ph idx="1" type="body"/>
          </p:nvPr>
        </p:nvSpPr>
        <p:spPr>
          <a:xfrm>
            <a:off x="720000" y="1203200"/>
            <a:ext cx="3681300" cy="2668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Font typeface="Anaheim"/>
              <a:buChar char="●"/>
              <a:defRPr sz="1400"/>
            </a:lvl1pPr>
            <a:lvl2pPr indent="-317500" lvl="1" marL="914400" rtl="0">
              <a:spcBef>
                <a:spcPts val="0"/>
              </a:spcBef>
              <a:spcAft>
                <a:spcPts val="0"/>
              </a:spcAft>
              <a:buClr>
                <a:srgbClr val="434343"/>
              </a:buClr>
              <a:buSzPts val="1400"/>
              <a:buFont typeface="Anaheim"/>
              <a:buChar char="○"/>
              <a:defRPr/>
            </a:lvl2pPr>
            <a:lvl3pPr indent="-317500" lvl="2" marL="1371600" rtl="0">
              <a:spcBef>
                <a:spcPts val="0"/>
              </a:spcBef>
              <a:spcAft>
                <a:spcPts val="0"/>
              </a:spcAft>
              <a:buClr>
                <a:srgbClr val="434343"/>
              </a:buClr>
              <a:buSzPts val="1400"/>
              <a:buFont typeface="Anaheim"/>
              <a:buChar char="■"/>
              <a:defRPr/>
            </a:lvl3pPr>
            <a:lvl4pPr indent="-317500" lvl="3" marL="1828800" rtl="0">
              <a:spcBef>
                <a:spcPts val="0"/>
              </a:spcBef>
              <a:spcAft>
                <a:spcPts val="0"/>
              </a:spcAft>
              <a:buClr>
                <a:srgbClr val="434343"/>
              </a:buClr>
              <a:buSzPts val="1400"/>
              <a:buFont typeface="Anaheim"/>
              <a:buChar char="●"/>
              <a:defRPr/>
            </a:lvl4pPr>
            <a:lvl5pPr indent="-317500" lvl="4" marL="2286000" rtl="0">
              <a:spcBef>
                <a:spcPts val="0"/>
              </a:spcBef>
              <a:spcAft>
                <a:spcPts val="0"/>
              </a:spcAft>
              <a:buClr>
                <a:srgbClr val="434343"/>
              </a:buClr>
              <a:buSzPts val="1400"/>
              <a:buFont typeface="Anaheim"/>
              <a:buChar char="○"/>
              <a:defRPr/>
            </a:lvl5pPr>
            <a:lvl6pPr indent="-317500" lvl="5" marL="2743200" rtl="0">
              <a:spcBef>
                <a:spcPts val="0"/>
              </a:spcBef>
              <a:spcAft>
                <a:spcPts val="0"/>
              </a:spcAft>
              <a:buClr>
                <a:srgbClr val="434343"/>
              </a:buClr>
              <a:buSzPts val="1400"/>
              <a:buFont typeface="Anaheim"/>
              <a:buChar char="■"/>
              <a:defRPr/>
            </a:lvl6pPr>
            <a:lvl7pPr indent="-317500" lvl="6" marL="3200400" rtl="0">
              <a:spcBef>
                <a:spcPts val="0"/>
              </a:spcBef>
              <a:spcAft>
                <a:spcPts val="0"/>
              </a:spcAft>
              <a:buClr>
                <a:srgbClr val="434343"/>
              </a:buClr>
              <a:buSzPts val="1400"/>
              <a:buFont typeface="Anaheim"/>
              <a:buChar char="●"/>
              <a:defRPr/>
            </a:lvl7pPr>
            <a:lvl8pPr indent="-317500" lvl="7" marL="3657600" rtl="0">
              <a:spcBef>
                <a:spcPts val="0"/>
              </a:spcBef>
              <a:spcAft>
                <a:spcPts val="0"/>
              </a:spcAft>
              <a:buClr>
                <a:srgbClr val="434343"/>
              </a:buClr>
              <a:buSzPts val="1400"/>
              <a:buFont typeface="Anaheim"/>
              <a:buChar char="○"/>
              <a:defRPr/>
            </a:lvl8pPr>
            <a:lvl9pPr indent="-317500" lvl="8" marL="4114800" rtl="0">
              <a:spcBef>
                <a:spcPts val="0"/>
              </a:spcBef>
              <a:spcAft>
                <a:spcPts val="0"/>
              </a:spcAft>
              <a:buClr>
                <a:srgbClr val="434343"/>
              </a:buClr>
              <a:buSzPts val="1400"/>
              <a:buFont typeface="Anaheim"/>
              <a:buChar char="■"/>
              <a:defRPr/>
            </a:lvl9pPr>
          </a:lstStyle>
          <a:p/>
        </p:txBody>
      </p:sp>
      <p:sp>
        <p:nvSpPr>
          <p:cNvPr id="89" name="Google Shape;89;p17"/>
          <p:cNvSpPr txBox="1"/>
          <p:nvPr>
            <p:ph idx="2" type="body"/>
          </p:nvPr>
        </p:nvSpPr>
        <p:spPr>
          <a:xfrm>
            <a:off x="4776900" y="1203200"/>
            <a:ext cx="3681300" cy="2668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Font typeface="Anaheim"/>
              <a:buChar char="●"/>
              <a:defRPr sz="1400"/>
            </a:lvl1pPr>
            <a:lvl2pPr indent="-317500" lvl="1" marL="914400" rtl="0">
              <a:spcBef>
                <a:spcPts val="0"/>
              </a:spcBef>
              <a:spcAft>
                <a:spcPts val="0"/>
              </a:spcAft>
              <a:buClr>
                <a:srgbClr val="434343"/>
              </a:buClr>
              <a:buSzPts val="1400"/>
              <a:buFont typeface="Anaheim"/>
              <a:buChar char="○"/>
              <a:defRPr/>
            </a:lvl2pPr>
            <a:lvl3pPr indent="-317500" lvl="2" marL="1371600" rtl="0">
              <a:spcBef>
                <a:spcPts val="0"/>
              </a:spcBef>
              <a:spcAft>
                <a:spcPts val="0"/>
              </a:spcAft>
              <a:buClr>
                <a:srgbClr val="434343"/>
              </a:buClr>
              <a:buSzPts val="1400"/>
              <a:buFont typeface="Anaheim"/>
              <a:buChar char="■"/>
              <a:defRPr/>
            </a:lvl3pPr>
            <a:lvl4pPr indent="-317500" lvl="3" marL="1828800" rtl="0">
              <a:spcBef>
                <a:spcPts val="0"/>
              </a:spcBef>
              <a:spcAft>
                <a:spcPts val="0"/>
              </a:spcAft>
              <a:buClr>
                <a:srgbClr val="434343"/>
              </a:buClr>
              <a:buSzPts val="1400"/>
              <a:buFont typeface="Anaheim"/>
              <a:buChar char="●"/>
              <a:defRPr/>
            </a:lvl4pPr>
            <a:lvl5pPr indent="-317500" lvl="4" marL="2286000" rtl="0">
              <a:spcBef>
                <a:spcPts val="0"/>
              </a:spcBef>
              <a:spcAft>
                <a:spcPts val="0"/>
              </a:spcAft>
              <a:buClr>
                <a:srgbClr val="434343"/>
              </a:buClr>
              <a:buSzPts val="1400"/>
              <a:buFont typeface="Anaheim"/>
              <a:buChar char="○"/>
              <a:defRPr/>
            </a:lvl5pPr>
            <a:lvl6pPr indent="-317500" lvl="5" marL="2743200" rtl="0">
              <a:spcBef>
                <a:spcPts val="0"/>
              </a:spcBef>
              <a:spcAft>
                <a:spcPts val="0"/>
              </a:spcAft>
              <a:buClr>
                <a:srgbClr val="434343"/>
              </a:buClr>
              <a:buSzPts val="1400"/>
              <a:buFont typeface="Anaheim"/>
              <a:buChar char="■"/>
              <a:defRPr/>
            </a:lvl6pPr>
            <a:lvl7pPr indent="-317500" lvl="6" marL="3200400" rtl="0">
              <a:spcBef>
                <a:spcPts val="0"/>
              </a:spcBef>
              <a:spcAft>
                <a:spcPts val="0"/>
              </a:spcAft>
              <a:buClr>
                <a:srgbClr val="434343"/>
              </a:buClr>
              <a:buSzPts val="1400"/>
              <a:buFont typeface="Anaheim"/>
              <a:buChar char="●"/>
              <a:defRPr/>
            </a:lvl7pPr>
            <a:lvl8pPr indent="-317500" lvl="7" marL="3657600" rtl="0">
              <a:spcBef>
                <a:spcPts val="0"/>
              </a:spcBef>
              <a:spcAft>
                <a:spcPts val="0"/>
              </a:spcAft>
              <a:buClr>
                <a:srgbClr val="434343"/>
              </a:buClr>
              <a:buSzPts val="1400"/>
              <a:buFont typeface="Anaheim"/>
              <a:buChar char="○"/>
              <a:defRPr/>
            </a:lvl8pPr>
            <a:lvl9pPr indent="-317500" lvl="8" marL="4114800" rtl="0">
              <a:spcBef>
                <a:spcPts val="0"/>
              </a:spcBef>
              <a:spcAft>
                <a:spcPts val="0"/>
              </a:spcAft>
              <a:buClr>
                <a:srgbClr val="434343"/>
              </a:buClr>
              <a:buSzPts val="1400"/>
              <a:buFont typeface="Anaheim"/>
              <a:buChar char="■"/>
              <a:defRPr/>
            </a:lvl9pPr>
          </a:lstStyle>
          <a:p/>
        </p:txBody>
      </p:sp>
      <p:sp>
        <p:nvSpPr>
          <p:cNvPr id="90" name="Google Shape;90;p17"/>
          <p:cNvSpPr/>
          <p:nvPr/>
        </p:nvSpPr>
        <p:spPr>
          <a:xfrm rot="10800000">
            <a:off x="4523" y="360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17"/>
          <p:cNvSpPr/>
          <p:nvPr/>
        </p:nvSpPr>
        <p:spPr>
          <a:xfrm>
            <a:off x="7861623" y="4119258"/>
            <a:ext cx="1282376" cy="1025092"/>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rgbClr val="CA0505">
              <a:alpha val="3182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92" name="Shape 92"/>
        <p:cNvGrpSpPr/>
        <p:nvPr/>
      </p:nvGrpSpPr>
      <p:grpSpPr>
        <a:xfrm>
          <a:off x="0" y="0"/>
          <a:ext cx="0" cy="0"/>
          <a:chOff x="0" y="0"/>
          <a:chExt cx="0" cy="0"/>
        </a:xfrm>
      </p:grpSpPr>
      <p:sp>
        <p:nvSpPr>
          <p:cNvPr id="93" name="Google Shape;93;p18"/>
          <p:cNvSpPr txBox="1"/>
          <p:nvPr>
            <p:ph hasCustomPrompt="1" type="title"/>
          </p:nvPr>
        </p:nvSpPr>
        <p:spPr>
          <a:xfrm>
            <a:off x="1033525" y="1037923"/>
            <a:ext cx="3376200" cy="8259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10000"/>
              <a:buNone/>
              <a:defRPr b="0" sz="4000">
                <a:solidFill>
                  <a:schemeClr val="accent3"/>
                </a:solidFill>
                <a:latin typeface="Roboto Medium"/>
                <a:ea typeface="Roboto Medium"/>
                <a:cs typeface="Roboto Medium"/>
                <a:sym typeface="Roboto Medium"/>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94" name="Google Shape;94;p18"/>
          <p:cNvSpPr txBox="1"/>
          <p:nvPr>
            <p:ph idx="1" type="subTitle"/>
          </p:nvPr>
        </p:nvSpPr>
        <p:spPr>
          <a:xfrm>
            <a:off x="1033525" y="1863702"/>
            <a:ext cx="3376200" cy="423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5" name="Google Shape;95;p18"/>
          <p:cNvSpPr txBox="1"/>
          <p:nvPr>
            <p:ph hasCustomPrompt="1" idx="2" type="title"/>
          </p:nvPr>
        </p:nvSpPr>
        <p:spPr>
          <a:xfrm>
            <a:off x="4734275" y="1037923"/>
            <a:ext cx="3376200" cy="8259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10000"/>
              <a:buNone/>
              <a:defRPr b="0" sz="4000">
                <a:solidFill>
                  <a:schemeClr val="accent3"/>
                </a:solidFill>
                <a:latin typeface="Roboto Medium"/>
                <a:ea typeface="Roboto Medium"/>
                <a:cs typeface="Roboto Medium"/>
                <a:sym typeface="Roboto Medium"/>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96" name="Google Shape;96;p18"/>
          <p:cNvSpPr txBox="1"/>
          <p:nvPr>
            <p:ph idx="3" type="subTitle"/>
          </p:nvPr>
        </p:nvSpPr>
        <p:spPr>
          <a:xfrm>
            <a:off x="4734275" y="1863702"/>
            <a:ext cx="3376200" cy="423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7" name="Google Shape;97;p18"/>
          <p:cNvSpPr txBox="1"/>
          <p:nvPr>
            <p:ph hasCustomPrompt="1" idx="4" type="title"/>
          </p:nvPr>
        </p:nvSpPr>
        <p:spPr>
          <a:xfrm>
            <a:off x="4734275" y="2856498"/>
            <a:ext cx="3376200" cy="8259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10000"/>
              <a:buNone/>
              <a:defRPr b="0" sz="4000">
                <a:solidFill>
                  <a:schemeClr val="accent3"/>
                </a:solidFill>
                <a:latin typeface="Roboto Medium"/>
                <a:ea typeface="Roboto Medium"/>
                <a:cs typeface="Roboto Medium"/>
                <a:sym typeface="Roboto Medium"/>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98" name="Google Shape;98;p18"/>
          <p:cNvSpPr txBox="1"/>
          <p:nvPr>
            <p:ph idx="5" type="subTitle"/>
          </p:nvPr>
        </p:nvSpPr>
        <p:spPr>
          <a:xfrm>
            <a:off x="4734275" y="3682277"/>
            <a:ext cx="3376200" cy="423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9" name="Google Shape;99;p18"/>
          <p:cNvSpPr txBox="1"/>
          <p:nvPr>
            <p:ph hasCustomPrompt="1" idx="6" type="title"/>
          </p:nvPr>
        </p:nvSpPr>
        <p:spPr>
          <a:xfrm>
            <a:off x="1033525" y="2856498"/>
            <a:ext cx="3376200" cy="8259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10000"/>
              <a:buNone/>
              <a:defRPr b="0" sz="4000">
                <a:solidFill>
                  <a:schemeClr val="accent3"/>
                </a:solidFill>
                <a:latin typeface="Roboto Medium"/>
                <a:ea typeface="Roboto Medium"/>
                <a:cs typeface="Roboto Medium"/>
                <a:sym typeface="Roboto Medium"/>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00" name="Google Shape;100;p18"/>
          <p:cNvSpPr txBox="1"/>
          <p:nvPr>
            <p:ph idx="7" type="subTitle"/>
          </p:nvPr>
        </p:nvSpPr>
        <p:spPr>
          <a:xfrm>
            <a:off x="1033525" y="3682277"/>
            <a:ext cx="3376200" cy="423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01" name="Google Shape;101;p18"/>
          <p:cNvSpPr/>
          <p:nvPr/>
        </p:nvSpPr>
        <p:spPr>
          <a:xfrm flipH="1">
            <a:off x="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18"/>
          <p:cNvSpPr/>
          <p:nvPr/>
        </p:nvSpPr>
        <p:spPr>
          <a:xfrm>
            <a:off x="81328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103" name="Shape 103"/>
        <p:cNvGrpSpPr/>
        <p:nvPr/>
      </p:nvGrpSpPr>
      <p:grpSpPr>
        <a:xfrm>
          <a:off x="0" y="0"/>
          <a:ext cx="0" cy="0"/>
          <a:chOff x="0" y="0"/>
          <a:chExt cx="0" cy="0"/>
        </a:xfrm>
      </p:grpSpPr>
      <p:sp>
        <p:nvSpPr>
          <p:cNvPr id="104" name="Google Shape;104;p19"/>
          <p:cNvSpPr txBox="1"/>
          <p:nvPr>
            <p:ph type="title"/>
          </p:nvPr>
        </p:nvSpPr>
        <p:spPr>
          <a:xfrm>
            <a:off x="1206950" y="1795450"/>
            <a:ext cx="28785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05" name="Google Shape;105;p19"/>
          <p:cNvSpPr txBox="1"/>
          <p:nvPr>
            <p:ph idx="2" type="title"/>
          </p:nvPr>
        </p:nvSpPr>
        <p:spPr>
          <a:xfrm>
            <a:off x="5058542" y="1795450"/>
            <a:ext cx="28785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06" name="Google Shape;106;p19"/>
          <p:cNvSpPr txBox="1"/>
          <p:nvPr>
            <p:ph idx="1" type="subTitle"/>
          </p:nvPr>
        </p:nvSpPr>
        <p:spPr>
          <a:xfrm>
            <a:off x="1206950" y="2238550"/>
            <a:ext cx="2878500" cy="499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07" name="Google Shape;107;p19"/>
          <p:cNvSpPr txBox="1"/>
          <p:nvPr>
            <p:ph idx="3" type="subTitle"/>
          </p:nvPr>
        </p:nvSpPr>
        <p:spPr>
          <a:xfrm>
            <a:off x="5058525" y="2238550"/>
            <a:ext cx="2878500" cy="499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08" name="Google Shape;108;p19"/>
          <p:cNvSpPr txBox="1"/>
          <p:nvPr>
            <p:ph idx="4" type="title"/>
          </p:nvPr>
        </p:nvSpPr>
        <p:spPr>
          <a:xfrm>
            <a:off x="1206950" y="3656770"/>
            <a:ext cx="28785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09" name="Google Shape;109;p19"/>
          <p:cNvSpPr txBox="1"/>
          <p:nvPr>
            <p:ph idx="5" type="title"/>
          </p:nvPr>
        </p:nvSpPr>
        <p:spPr>
          <a:xfrm>
            <a:off x="5058542" y="3656770"/>
            <a:ext cx="28785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10" name="Google Shape;110;p19"/>
          <p:cNvSpPr txBox="1"/>
          <p:nvPr>
            <p:ph idx="6" type="subTitle"/>
          </p:nvPr>
        </p:nvSpPr>
        <p:spPr>
          <a:xfrm>
            <a:off x="1206950" y="4099977"/>
            <a:ext cx="2878500" cy="499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11" name="Google Shape;111;p19"/>
          <p:cNvSpPr txBox="1"/>
          <p:nvPr>
            <p:ph idx="7" type="subTitle"/>
          </p:nvPr>
        </p:nvSpPr>
        <p:spPr>
          <a:xfrm>
            <a:off x="5058526" y="4099977"/>
            <a:ext cx="2878500" cy="499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12" name="Google Shape;112;p19"/>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9"/>
          <p:cNvSpPr/>
          <p:nvPr/>
        </p:nvSpPr>
        <p:spPr>
          <a:xfrm flipH="1">
            <a:off x="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19"/>
          <p:cNvSpPr/>
          <p:nvPr/>
        </p:nvSpPr>
        <p:spPr>
          <a:xfrm rot="-5400000">
            <a:off x="8233710" y="100901"/>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115" name="Shape 115"/>
        <p:cNvGrpSpPr/>
        <p:nvPr/>
      </p:nvGrpSpPr>
      <p:grpSpPr>
        <a:xfrm>
          <a:off x="0" y="0"/>
          <a:ext cx="0" cy="0"/>
          <a:chOff x="0" y="0"/>
          <a:chExt cx="0" cy="0"/>
        </a:xfrm>
      </p:grpSpPr>
      <p:sp>
        <p:nvSpPr>
          <p:cNvPr id="116" name="Google Shape;116;p20"/>
          <p:cNvSpPr txBox="1"/>
          <p:nvPr>
            <p:ph type="title"/>
          </p:nvPr>
        </p:nvSpPr>
        <p:spPr>
          <a:xfrm>
            <a:off x="720000" y="1802610"/>
            <a:ext cx="22632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17" name="Google Shape;117;p20"/>
          <p:cNvSpPr txBox="1"/>
          <p:nvPr>
            <p:ph idx="2" type="title"/>
          </p:nvPr>
        </p:nvSpPr>
        <p:spPr>
          <a:xfrm>
            <a:off x="3440472" y="1802610"/>
            <a:ext cx="22632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18" name="Google Shape;118;p20"/>
          <p:cNvSpPr txBox="1"/>
          <p:nvPr>
            <p:ph idx="1" type="subTitle"/>
          </p:nvPr>
        </p:nvSpPr>
        <p:spPr>
          <a:xfrm>
            <a:off x="720000" y="2245835"/>
            <a:ext cx="22632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19" name="Google Shape;119;p20"/>
          <p:cNvSpPr txBox="1"/>
          <p:nvPr>
            <p:ph idx="3" type="subTitle"/>
          </p:nvPr>
        </p:nvSpPr>
        <p:spPr>
          <a:xfrm>
            <a:off x="3440463" y="2245835"/>
            <a:ext cx="22632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0" name="Google Shape;120;p20"/>
          <p:cNvSpPr txBox="1"/>
          <p:nvPr>
            <p:ph idx="4" type="title"/>
          </p:nvPr>
        </p:nvSpPr>
        <p:spPr>
          <a:xfrm>
            <a:off x="720000" y="3603300"/>
            <a:ext cx="22632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1" name="Google Shape;121;p20"/>
          <p:cNvSpPr txBox="1"/>
          <p:nvPr>
            <p:ph idx="5" type="title"/>
          </p:nvPr>
        </p:nvSpPr>
        <p:spPr>
          <a:xfrm>
            <a:off x="3440472" y="3603300"/>
            <a:ext cx="22632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2" name="Google Shape;122;p20"/>
          <p:cNvSpPr txBox="1"/>
          <p:nvPr>
            <p:ph idx="6" type="subTitle"/>
          </p:nvPr>
        </p:nvSpPr>
        <p:spPr>
          <a:xfrm>
            <a:off x="720000" y="4046400"/>
            <a:ext cx="22632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3" name="Google Shape;123;p20"/>
          <p:cNvSpPr txBox="1"/>
          <p:nvPr>
            <p:ph idx="7" type="subTitle"/>
          </p:nvPr>
        </p:nvSpPr>
        <p:spPr>
          <a:xfrm>
            <a:off x="3440460" y="4046400"/>
            <a:ext cx="22632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4" name="Google Shape;124;p20"/>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 name="Google Shape;125;p20"/>
          <p:cNvSpPr txBox="1"/>
          <p:nvPr>
            <p:ph idx="9" type="title"/>
          </p:nvPr>
        </p:nvSpPr>
        <p:spPr>
          <a:xfrm>
            <a:off x="6160948" y="1802610"/>
            <a:ext cx="22632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6" name="Google Shape;126;p20"/>
          <p:cNvSpPr txBox="1"/>
          <p:nvPr>
            <p:ph idx="13" type="subTitle"/>
          </p:nvPr>
        </p:nvSpPr>
        <p:spPr>
          <a:xfrm>
            <a:off x="6160926" y="2245835"/>
            <a:ext cx="22632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7" name="Google Shape;127;p20"/>
          <p:cNvSpPr txBox="1"/>
          <p:nvPr>
            <p:ph idx="14" type="title"/>
          </p:nvPr>
        </p:nvSpPr>
        <p:spPr>
          <a:xfrm>
            <a:off x="6160948" y="3603300"/>
            <a:ext cx="2263200" cy="443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8" name="Google Shape;128;p20"/>
          <p:cNvSpPr txBox="1"/>
          <p:nvPr>
            <p:ph idx="15" type="subTitle"/>
          </p:nvPr>
        </p:nvSpPr>
        <p:spPr>
          <a:xfrm>
            <a:off x="6160926" y="4046400"/>
            <a:ext cx="22632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9" name="Google Shape;129;p20"/>
          <p:cNvSpPr/>
          <p:nvPr/>
        </p:nvSpPr>
        <p:spPr>
          <a:xfrm>
            <a:off x="813280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20"/>
          <p:cNvSpPr/>
          <p:nvPr/>
        </p:nvSpPr>
        <p:spPr>
          <a:xfrm flipH="1" rot="5400000">
            <a:off x="-100900" y="100901"/>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n columns">
  <p:cSld name="CUSTOM_9">
    <p:spTree>
      <p:nvGrpSpPr>
        <p:cNvPr id="131" name="Shape 131"/>
        <p:cNvGrpSpPr/>
        <p:nvPr/>
      </p:nvGrpSpPr>
      <p:grpSpPr>
        <a:xfrm>
          <a:off x="0" y="0"/>
          <a:ext cx="0" cy="0"/>
          <a:chOff x="0" y="0"/>
          <a:chExt cx="0" cy="0"/>
        </a:xfrm>
      </p:grpSpPr>
      <p:sp>
        <p:nvSpPr>
          <p:cNvPr id="132" name="Google Shape;132;p21"/>
          <p:cNvSpPr txBox="1"/>
          <p:nvPr>
            <p:ph idx="1" type="subTitle"/>
          </p:nvPr>
        </p:nvSpPr>
        <p:spPr>
          <a:xfrm>
            <a:off x="1410309" y="212655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3" name="Google Shape;133;p21"/>
          <p:cNvSpPr txBox="1"/>
          <p:nvPr>
            <p:ph idx="2" type="subTitle"/>
          </p:nvPr>
        </p:nvSpPr>
        <p:spPr>
          <a:xfrm>
            <a:off x="1410284" y="279940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4" name="Google Shape;134;p21"/>
          <p:cNvSpPr txBox="1"/>
          <p:nvPr>
            <p:ph idx="3" type="subTitle"/>
          </p:nvPr>
        </p:nvSpPr>
        <p:spPr>
          <a:xfrm>
            <a:off x="1410309" y="347225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5" name="Google Shape;135;p21"/>
          <p:cNvSpPr txBox="1"/>
          <p:nvPr>
            <p:ph idx="4" type="subTitle"/>
          </p:nvPr>
        </p:nvSpPr>
        <p:spPr>
          <a:xfrm>
            <a:off x="1410284" y="414510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6" name="Google Shape;136;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21"/>
          <p:cNvSpPr txBox="1"/>
          <p:nvPr>
            <p:ph idx="5" type="subTitle"/>
          </p:nvPr>
        </p:nvSpPr>
        <p:spPr>
          <a:xfrm>
            <a:off x="1410309" y="145370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8" name="Google Shape;138;p21"/>
          <p:cNvSpPr txBox="1"/>
          <p:nvPr>
            <p:ph idx="6" type="subTitle"/>
          </p:nvPr>
        </p:nvSpPr>
        <p:spPr>
          <a:xfrm>
            <a:off x="5363112" y="212655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9" name="Google Shape;139;p21"/>
          <p:cNvSpPr txBox="1"/>
          <p:nvPr>
            <p:ph idx="7" type="subTitle"/>
          </p:nvPr>
        </p:nvSpPr>
        <p:spPr>
          <a:xfrm>
            <a:off x="5363087" y="279940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0" name="Google Shape;140;p21"/>
          <p:cNvSpPr txBox="1"/>
          <p:nvPr>
            <p:ph idx="8" type="subTitle"/>
          </p:nvPr>
        </p:nvSpPr>
        <p:spPr>
          <a:xfrm>
            <a:off x="5363112" y="347225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1" name="Google Shape;141;p21"/>
          <p:cNvSpPr txBox="1"/>
          <p:nvPr>
            <p:ph idx="9" type="subTitle"/>
          </p:nvPr>
        </p:nvSpPr>
        <p:spPr>
          <a:xfrm>
            <a:off x="5363087" y="414510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2" name="Google Shape;142;p21"/>
          <p:cNvSpPr txBox="1"/>
          <p:nvPr>
            <p:ph idx="13" type="subTitle"/>
          </p:nvPr>
        </p:nvSpPr>
        <p:spPr>
          <a:xfrm>
            <a:off x="5363112" y="1453700"/>
            <a:ext cx="3060900" cy="47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3" name="Google Shape;143;p21"/>
          <p:cNvSpPr/>
          <p:nvPr/>
        </p:nvSpPr>
        <p:spPr>
          <a:xfrm flipH="1">
            <a:off x="-101965" y="4354577"/>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21"/>
          <p:cNvSpPr/>
          <p:nvPr/>
        </p:nvSpPr>
        <p:spPr>
          <a:xfrm rot="-5400000">
            <a:off x="8233710" y="100901"/>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21"/>
          <p:cNvSpPr/>
          <p:nvPr/>
        </p:nvSpPr>
        <p:spPr>
          <a:xfrm flipH="1">
            <a:off x="143900" y="4354577"/>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146" name="Shape 146"/>
        <p:cNvGrpSpPr/>
        <p:nvPr/>
      </p:nvGrpSpPr>
      <p:grpSpPr>
        <a:xfrm>
          <a:off x="0" y="0"/>
          <a:ext cx="0" cy="0"/>
          <a:chOff x="0" y="0"/>
          <a:chExt cx="0" cy="0"/>
        </a:xfrm>
      </p:grpSpPr>
      <p:sp>
        <p:nvSpPr>
          <p:cNvPr id="147" name="Google Shape;147;p22"/>
          <p:cNvSpPr txBox="1"/>
          <p:nvPr>
            <p:ph type="ctrTitle"/>
          </p:nvPr>
        </p:nvSpPr>
        <p:spPr>
          <a:xfrm>
            <a:off x="685800" y="772125"/>
            <a:ext cx="4892400" cy="849900"/>
          </a:xfrm>
          <a:prstGeom prst="rect">
            <a:avLst/>
          </a:prstGeom>
        </p:spPr>
        <p:txBody>
          <a:bodyPr anchorCtr="0" anchor="b" bIns="91425" lIns="91425" spcFirstLastPara="1" rIns="91425" wrap="square" tIns="91425">
            <a:noAutofit/>
          </a:bodyPr>
          <a:lstStyle>
            <a:lvl1pPr lvl="0" rtl="0">
              <a:spcBef>
                <a:spcPts val="0"/>
              </a:spcBef>
              <a:spcAft>
                <a:spcPts val="0"/>
              </a:spcAft>
              <a:buSzPts val="8500"/>
              <a:buNone/>
              <a:defRPr sz="56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48" name="Google Shape;148;p22"/>
          <p:cNvSpPr txBox="1"/>
          <p:nvPr>
            <p:ph idx="1" type="subTitle"/>
          </p:nvPr>
        </p:nvSpPr>
        <p:spPr>
          <a:xfrm>
            <a:off x="685800" y="1546050"/>
            <a:ext cx="4892400" cy="120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49" name="Google Shape;149;p22"/>
          <p:cNvSpPr txBox="1"/>
          <p:nvPr/>
        </p:nvSpPr>
        <p:spPr>
          <a:xfrm>
            <a:off x="685800" y="3533125"/>
            <a:ext cx="4892400" cy="554100"/>
          </a:xfrm>
          <a:prstGeom prst="rect">
            <a:avLst/>
          </a:prstGeom>
          <a:noFill/>
          <a:ln>
            <a:noFill/>
          </a:ln>
        </p:spPr>
        <p:txBody>
          <a:bodyPr anchorCtr="0" anchor="ctr" bIns="91425" lIns="91425" spcFirstLastPara="1" rIns="91425" wrap="square" tIns="91425">
            <a:noAutofit/>
          </a:bodyPr>
          <a:lstStyle/>
          <a:p>
            <a:pPr indent="0" lvl="0" marL="0" rtl="0" algn="l">
              <a:spcBef>
                <a:spcPts val="300"/>
              </a:spcBef>
              <a:spcAft>
                <a:spcPts val="0"/>
              </a:spcAft>
              <a:buNone/>
            </a:pPr>
            <a:r>
              <a:rPr lang="en" sz="1000">
                <a:solidFill>
                  <a:schemeClr val="dk1"/>
                </a:solidFill>
                <a:latin typeface="Roboto"/>
                <a:ea typeface="Roboto"/>
                <a:cs typeface="Roboto"/>
                <a:sym typeface="Roboto"/>
              </a:rPr>
              <a:t>CREDITS: This presentation template was created by </a:t>
            </a:r>
            <a:r>
              <a:rPr lang="en" sz="1000" u="sng">
                <a:solidFill>
                  <a:schemeClr val="dk1"/>
                </a:solidFill>
                <a:latin typeface="Roboto"/>
                <a:ea typeface="Roboto"/>
                <a:cs typeface="Roboto"/>
                <a:sym typeface="Roboto"/>
                <a:hlinkClick r:id="rId2">
                  <a:extLst>
                    <a:ext uri="{A12FA001-AC4F-418D-AE19-62706E023703}">
                      <ahyp:hlinkClr val="tx"/>
                    </a:ext>
                  </a:extLst>
                </a:hlinkClick>
              </a:rPr>
              <a:t>Slidesgo</a:t>
            </a:r>
            <a:r>
              <a:rPr lang="en" sz="1000">
                <a:solidFill>
                  <a:schemeClr val="dk1"/>
                </a:solidFill>
                <a:latin typeface="Roboto"/>
                <a:ea typeface="Roboto"/>
                <a:cs typeface="Roboto"/>
                <a:sym typeface="Roboto"/>
              </a:rPr>
              <a:t>, and includes icons by </a:t>
            </a:r>
            <a:r>
              <a:rPr lang="en" sz="1000" u="sng">
                <a:solidFill>
                  <a:schemeClr val="dk1"/>
                </a:solidFill>
                <a:latin typeface="Roboto"/>
                <a:ea typeface="Roboto"/>
                <a:cs typeface="Roboto"/>
                <a:sym typeface="Roboto"/>
                <a:hlinkClick r:id="rId3">
                  <a:extLst>
                    <a:ext uri="{A12FA001-AC4F-418D-AE19-62706E023703}">
                      <ahyp:hlinkClr val="tx"/>
                    </a:ext>
                  </a:extLst>
                </a:hlinkClick>
              </a:rPr>
              <a:t>Flaticon</a:t>
            </a:r>
            <a:r>
              <a:rPr lang="en" sz="1000">
                <a:solidFill>
                  <a:schemeClr val="dk1"/>
                </a:solidFill>
                <a:latin typeface="Roboto"/>
                <a:ea typeface="Roboto"/>
                <a:cs typeface="Roboto"/>
                <a:sym typeface="Roboto"/>
              </a:rPr>
              <a:t>, and infographics &amp; images by </a:t>
            </a:r>
            <a:r>
              <a:rPr lang="en" sz="1000" u="sng">
                <a:solidFill>
                  <a:schemeClr val="dk1"/>
                </a:solidFill>
                <a:latin typeface="Roboto"/>
                <a:ea typeface="Roboto"/>
                <a:cs typeface="Roboto"/>
                <a:sym typeface="Roboto"/>
                <a:hlinkClick r:id="rId4">
                  <a:extLst>
                    <a:ext uri="{A12FA001-AC4F-418D-AE19-62706E023703}">
                      <ahyp:hlinkClr val="tx"/>
                    </a:ext>
                  </a:extLst>
                </a:hlinkClick>
              </a:rPr>
              <a:t>Freepik</a:t>
            </a:r>
            <a:endParaRPr sz="1000" u="sng">
              <a:solidFill>
                <a:schemeClr val="dk1"/>
              </a:solidFill>
              <a:latin typeface="Roboto"/>
              <a:ea typeface="Roboto"/>
              <a:cs typeface="Roboto"/>
              <a:sym typeface="Roboto"/>
            </a:endParaRPr>
          </a:p>
        </p:txBody>
      </p:sp>
      <p:sp>
        <p:nvSpPr>
          <p:cNvPr id="150" name="Google Shape;150;p22"/>
          <p:cNvSpPr/>
          <p:nvPr/>
        </p:nvSpPr>
        <p:spPr>
          <a:xfrm flipH="1">
            <a:off x="-92049" y="4056542"/>
            <a:ext cx="1555694" cy="1245203"/>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22"/>
          <p:cNvSpPr/>
          <p:nvPr>
            <p:ph idx="2" type="pic"/>
          </p:nvPr>
        </p:nvSpPr>
        <p:spPr>
          <a:xfrm>
            <a:off x="6012675" y="-10225"/>
            <a:ext cx="3139200" cy="51435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152" name="Shape 152"/>
        <p:cNvGrpSpPr/>
        <p:nvPr/>
      </p:nvGrpSpPr>
      <p:grpSpPr>
        <a:xfrm>
          <a:off x="0" y="0"/>
          <a:ext cx="0" cy="0"/>
          <a:chOff x="0" y="0"/>
          <a:chExt cx="0" cy="0"/>
        </a:xfrm>
      </p:grpSpPr>
      <p:sp>
        <p:nvSpPr>
          <p:cNvPr id="153" name="Google Shape;153;p23"/>
          <p:cNvSpPr/>
          <p:nvPr/>
        </p:nvSpPr>
        <p:spPr>
          <a:xfrm flipH="1">
            <a:off x="360761" y="2554307"/>
            <a:ext cx="3226104" cy="2578847"/>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rgbClr val="CA0505">
              <a:alpha val="3182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23"/>
          <p:cNvSpPr/>
          <p:nvPr/>
        </p:nvSpPr>
        <p:spPr>
          <a:xfrm flipH="1">
            <a:off x="5" y="3887956"/>
            <a:ext cx="1555694" cy="1245203"/>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23"/>
          <p:cNvSpPr/>
          <p:nvPr/>
        </p:nvSpPr>
        <p:spPr>
          <a:xfrm flipH="1" rot="10800000">
            <a:off x="6902505" y="6"/>
            <a:ext cx="1555694" cy="1245203"/>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156" name="Shape 156"/>
        <p:cNvGrpSpPr/>
        <p:nvPr/>
      </p:nvGrpSpPr>
      <p:grpSpPr>
        <a:xfrm>
          <a:off x="0" y="0"/>
          <a:ext cx="0" cy="0"/>
          <a:chOff x="0" y="0"/>
          <a:chExt cx="0" cy="0"/>
        </a:xfrm>
      </p:grpSpPr>
      <p:sp>
        <p:nvSpPr>
          <p:cNvPr id="157" name="Google Shape;157;p24"/>
          <p:cNvSpPr/>
          <p:nvPr/>
        </p:nvSpPr>
        <p:spPr>
          <a:xfrm flipH="1">
            <a:off x="10"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24"/>
          <p:cNvSpPr/>
          <p:nvPr/>
        </p:nvSpPr>
        <p:spPr>
          <a:xfrm rot="-5400000">
            <a:off x="8233710" y="100901"/>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24"/>
          <p:cNvSpPr/>
          <p:nvPr/>
        </p:nvSpPr>
        <p:spPr>
          <a:xfrm flipH="1">
            <a:off x="355435" y="4334126"/>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24"/>
          <p:cNvSpPr/>
          <p:nvPr/>
        </p:nvSpPr>
        <p:spPr>
          <a:xfrm rot="-5400000">
            <a:off x="7952597" y="100901"/>
            <a:ext cx="1011201" cy="809382"/>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2">
    <p:spTree>
      <p:nvGrpSpPr>
        <p:cNvPr id="161" name="Shape 161"/>
        <p:cNvGrpSpPr/>
        <p:nvPr/>
      </p:nvGrpSpPr>
      <p:grpSpPr>
        <a:xfrm>
          <a:off x="0" y="0"/>
          <a:ext cx="0" cy="0"/>
          <a:chOff x="0" y="0"/>
          <a:chExt cx="0" cy="0"/>
        </a:xfrm>
      </p:grpSpPr>
      <p:sp>
        <p:nvSpPr>
          <p:cNvPr id="162" name="Google Shape;162;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63" name="Google Shape;163;p25"/>
          <p:cNvGrpSpPr/>
          <p:nvPr/>
        </p:nvGrpSpPr>
        <p:grpSpPr>
          <a:xfrm>
            <a:off x="-72475" y="414125"/>
            <a:ext cx="9267325" cy="4314400"/>
            <a:chOff x="-72475" y="414125"/>
            <a:chExt cx="9267325" cy="4314400"/>
          </a:xfrm>
        </p:grpSpPr>
        <p:cxnSp>
          <p:nvCxnSpPr>
            <p:cNvPr id="164" name="Google Shape;164;p25"/>
            <p:cNvCxnSpPr/>
            <p:nvPr/>
          </p:nvCxnSpPr>
          <p:spPr>
            <a:xfrm>
              <a:off x="-72475" y="414125"/>
              <a:ext cx="9245700" cy="0"/>
            </a:xfrm>
            <a:prstGeom prst="straightConnector1">
              <a:avLst/>
            </a:prstGeom>
            <a:noFill/>
            <a:ln cap="flat" cmpd="sng" w="9525">
              <a:solidFill>
                <a:schemeClr val="dk1"/>
              </a:solidFill>
              <a:prstDash val="solid"/>
              <a:round/>
              <a:headEnd len="med" w="med" type="none"/>
              <a:tailEnd len="med" w="med" type="none"/>
            </a:ln>
          </p:spPr>
        </p:cxnSp>
        <p:cxnSp>
          <p:nvCxnSpPr>
            <p:cNvPr id="165" name="Google Shape;165;p25"/>
            <p:cNvCxnSpPr/>
            <p:nvPr/>
          </p:nvCxnSpPr>
          <p:spPr>
            <a:xfrm>
              <a:off x="-50850" y="4728525"/>
              <a:ext cx="9245700" cy="0"/>
            </a:xfrm>
            <a:prstGeom prst="straightConnector1">
              <a:avLst/>
            </a:prstGeom>
            <a:noFill/>
            <a:ln cap="flat" cmpd="sng" w="9525">
              <a:solidFill>
                <a:schemeClr val="dk1"/>
              </a:solidFill>
              <a:prstDash val="solid"/>
              <a:round/>
              <a:headEnd len="med" w="med" type="none"/>
              <a:tailEnd len="med" w="med" type="none"/>
            </a:ln>
          </p:spPr>
        </p:cxnSp>
      </p:grpSp>
      <p:grpSp>
        <p:nvGrpSpPr>
          <p:cNvPr id="166" name="Google Shape;166;p25"/>
          <p:cNvGrpSpPr/>
          <p:nvPr/>
        </p:nvGrpSpPr>
        <p:grpSpPr>
          <a:xfrm rot="-5400000">
            <a:off x="468039" y="-106364"/>
            <a:ext cx="145800" cy="633627"/>
            <a:chOff x="351750" y="574100"/>
            <a:chExt cx="145800" cy="633627"/>
          </a:xfrm>
        </p:grpSpPr>
        <p:sp>
          <p:nvSpPr>
            <p:cNvPr id="167" name="Google Shape;167;p25"/>
            <p:cNvSpPr/>
            <p:nvPr/>
          </p:nvSpPr>
          <p:spPr>
            <a:xfrm>
              <a:off x="351750" y="574100"/>
              <a:ext cx="145800" cy="1263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68" name="Google Shape;168;p25"/>
            <p:cNvSpPr/>
            <p:nvPr/>
          </p:nvSpPr>
          <p:spPr>
            <a:xfrm>
              <a:off x="351750" y="743209"/>
              <a:ext cx="145800" cy="126300"/>
            </a:xfrm>
            <a:prstGeom prst="triangle">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69" name="Google Shape;169;p25"/>
            <p:cNvSpPr/>
            <p:nvPr/>
          </p:nvSpPr>
          <p:spPr>
            <a:xfrm>
              <a:off x="351750" y="912318"/>
              <a:ext cx="145800" cy="1263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70" name="Google Shape;170;p25"/>
            <p:cNvSpPr/>
            <p:nvPr/>
          </p:nvSpPr>
          <p:spPr>
            <a:xfrm>
              <a:off x="351750" y="1081427"/>
              <a:ext cx="145800" cy="126300"/>
            </a:xfrm>
            <a:prstGeom prst="triangle">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grpSp>
      <p:grpSp>
        <p:nvGrpSpPr>
          <p:cNvPr id="171" name="Google Shape;171;p25"/>
          <p:cNvGrpSpPr/>
          <p:nvPr/>
        </p:nvGrpSpPr>
        <p:grpSpPr>
          <a:xfrm rot="10800000">
            <a:off x="8294364" y="4796164"/>
            <a:ext cx="625525" cy="274050"/>
            <a:chOff x="224125" y="70950"/>
            <a:chExt cx="625525" cy="274050"/>
          </a:xfrm>
        </p:grpSpPr>
        <p:grpSp>
          <p:nvGrpSpPr>
            <p:cNvPr id="172" name="Google Shape;172;p25"/>
            <p:cNvGrpSpPr/>
            <p:nvPr/>
          </p:nvGrpSpPr>
          <p:grpSpPr>
            <a:xfrm flipH="1" rot="10800000">
              <a:off x="224125" y="70950"/>
              <a:ext cx="269100" cy="269100"/>
              <a:chOff x="3101600" y="1527225"/>
              <a:chExt cx="314700" cy="314700"/>
            </a:xfrm>
          </p:grpSpPr>
          <p:sp>
            <p:nvSpPr>
              <p:cNvPr id="173" name="Google Shape;173;p25"/>
              <p:cNvSpPr/>
              <p:nvPr/>
            </p:nvSpPr>
            <p:spPr>
              <a:xfrm>
                <a:off x="3101600" y="1527225"/>
                <a:ext cx="314700" cy="314700"/>
              </a:xfrm>
              <a:prstGeom prst="star12">
                <a:avLst>
                  <a:gd fmla="val 415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74" name="Google Shape;174;p25"/>
              <p:cNvSpPr/>
              <p:nvPr/>
            </p:nvSpPr>
            <p:spPr>
              <a:xfrm>
                <a:off x="3206352" y="1631977"/>
                <a:ext cx="105300" cy="105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grpSp>
        <p:grpSp>
          <p:nvGrpSpPr>
            <p:cNvPr id="175" name="Google Shape;175;p25"/>
            <p:cNvGrpSpPr/>
            <p:nvPr/>
          </p:nvGrpSpPr>
          <p:grpSpPr>
            <a:xfrm flipH="1" rot="10800000">
              <a:off x="580550" y="75900"/>
              <a:ext cx="269100" cy="269100"/>
              <a:chOff x="3101600" y="1527225"/>
              <a:chExt cx="314700" cy="314700"/>
            </a:xfrm>
          </p:grpSpPr>
          <p:sp>
            <p:nvSpPr>
              <p:cNvPr id="176" name="Google Shape;176;p25"/>
              <p:cNvSpPr/>
              <p:nvPr/>
            </p:nvSpPr>
            <p:spPr>
              <a:xfrm>
                <a:off x="3101600" y="1527225"/>
                <a:ext cx="314700" cy="314700"/>
              </a:xfrm>
              <a:prstGeom prst="star12">
                <a:avLst>
                  <a:gd fmla="val 415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77" name="Google Shape;177;p25"/>
              <p:cNvSpPr/>
              <p:nvPr/>
            </p:nvSpPr>
            <p:spPr>
              <a:xfrm>
                <a:off x="3206352" y="1631977"/>
                <a:ext cx="105300" cy="1053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b="1" sz="28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3.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pic>
        <p:nvPicPr>
          <p:cNvPr id="182" name="Google Shape;182;p26"/>
          <p:cNvPicPr preferRelativeResize="0"/>
          <p:nvPr>
            <p:ph idx="2" type="pic"/>
          </p:nvPr>
        </p:nvPicPr>
        <p:blipFill rotWithShape="1">
          <a:blip r:embed="rId3">
            <a:alphaModFix/>
          </a:blip>
          <a:srcRect b="6210" l="7596" r="0" t="6209"/>
          <a:stretch/>
        </p:blipFill>
        <p:spPr>
          <a:xfrm>
            <a:off x="5532300" y="-10350"/>
            <a:ext cx="3611700" cy="5143500"/>
          </a:xfrm>
          <a:prstGeom prst="rect">
            <a:avLst/>
          </a:prstGeom>
        </p:spPr>
      </p:pic>
      <p:sp>
        <p:nvSpPr>
          <p:cNvPr id="183" name="Google Shape;183;p26"/>
          <p:cNvSpPr txBox="1"/>
          <p:nvPr>
            <p:ph type="ctrTitle"/>
          </p:nvPr>
        </p:nvSpPr>
        <p:spPr>
          <a:xfrm>
            <a:off x="170725" y="1256050"/>
            <a:ext cx="4781400" cy="208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Fraud detection in car insurance claims</a:t>
            </a:r>
            <a:endParaRPr sz="4000">
              <a:solidFill>
                <a:schemeClr val="lt2"/>
              </a:solidFill>
            </a:endParaRPr>
          </a:p>
        </p:txBody>
      </p:sp>
      <p:sp>
        <p:nvSpPr>
          <p:cNvPr id="184" name="Google Shape;184;p26"/>
          <p:cNvSpPr txBox="1"/>
          <p:nvPr>
            <p:ph idx="1" type="subTitle"/>
          </p:nvPr>
        </p:nvSpPr>
        <p:spPr>
          <a:xfrm>
            <a:off x="170725" y="4428575"/>
            <a:ext cx="5266800" cy="4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Florencia Barrios, Maria Ines Martinote, Florencia Lucas</a:t>
            </a:r>
            <a:endParaRPr sz="1400"/>
          </a:p>
        </p:txBody>
      </p:sp>
      <p:sp>
        <p:nvSpPr>
          <p:cNvPr id="185" name="Google Shape;185;p26"/>
          <p:cNvSpPr/>
          <p:nvPr/>
        </p:nvSpPr>
        <p:spPr>
          <a:xfrm>
            <a:off x="4170214" y="2554307"/>
            <a:ext cx="3226104" cy="2578847"/>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rgbClr val="CA0505">
              <a:alpha val="3182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26"/>
          <p:cNvSpPr/>
          <p:nvPr/>
        </p:nvSpPr>
        <p:spPr>
          <a:xfrm>
            <a:off x="6201380" y="3887956"/>
            <a:ext cx="1555694" cy="1245203"/>
          </a:xfrm>
          <a:custGeom>
            <a:rect b="b" l="l" r="r" t="t"/>
            <a:pathLst>
              <a:path extrusionOk="0" h="1245203" w="1555694">
                <a:moveTo>
                  <a:pt x="1555695" y="0"/>
                </a:moveTo>
                <a:cubicBezTo>
                  <a:pt x="768739" y="629483"/>
                  <a:pt x="0" y="1245203"/>
                  <a:pt x="0" y="1245203"/>
                </a:cubicBezTo>
                <a:lnTo>
                  <a:pt x="1555695" y="1245203"/>
                </a:lnTo>
                <a:lnTo>
                  <a:pt x="155569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26"/>
          <p:cNvSpPr txBox="1"/>
          <p:nvPr/>
        </p:nvSpPr>
        <p:spPr>
          <a:xfrm>
            <a:off x="170735" y="3892592"/>
            <a:ext cx="5208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rPr>
              <a:t>MISTI GTL - AI Uruguay 2026</a:t>
            </a:r>
            <a:endParaRPr sz="4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idx="14" type="title"/>
          </p:nvPr>
        </p:nvSpPr>
        <p:spPr>
          <a:xfrm>
            <a:off x="4911910" y="1792299"/>
            <a:ext cx="775800" cy="7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93" name="Google Shape;193;p27"/>
          <p:cNvSpPr txBox="1"/>
          <p:nvPr>
            <p:ph idx="15" type="title"/>
          </p:nvPr>
        </p:nvSpPr>
        <p:spPr>
          <a:xfrm>
            <a:off x="4911910" y="3319199"/>
            <a:ext cx="775800" cy="7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94" name="Google Shape;194;p27"/>
          <p:cNvSpPr txBox="1"/>
          <p:nvPr>
            <p:ph idx="13" type="title"/>
          </p:nvPr>
        </p:nvSpPr>
        <p:spPr>
          <a:xfrm>
            <a:off x="720010" y="3319199"/>
            <a:ext cx="775800" cy="7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95" name="Google Shape;195;p27"/>
          <p:cNvSpPr txBox="1"/>
          <p:nvPr>
            <p:ph idx="9" type="title"/>
          </p:nvPr>
        </p:nvSpPr>
        <p:spPr>
          <a:xfrm>
            <a:off x="720010" y="1792299"/>
            <a:ext cx="775800" cy="7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96" name="Google Shape;196;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197" name="Google Shape;197;p27"/>
          <p:cNvSpPr txBox="1"/>
          <p:nvPr>
            <p:ph idx="2" type="title"/>
          </p:nvPr>
        </p:nvSpPr>
        <p:spPr>
          <a:xfrm>
            <a:off x="1648300" y="1743700"/>
            <a:ext cx="2583900" cy="42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 &amp; objective </a:t>
            </a:r>
            <a:endParaRPr/>
          </a:p>
        </p:txBody>
      </p:sp>
      <p:sp>
        <p:nvSpPr>
          <p:cNvPr id="198" name="Google Shape;198;p27"/>
          <p:cNvSpPr txBox="1"/>
          <p:nvPr>
            <p:ph idx="3" type="title"/>
          </p:nvPr>
        </p:nvSpPr>
        <p:spPr>
          <a:xfrm>
            <a:off x="5840075" y="1743700"/>
            <a:ext cx="2583900" cy="42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a:t>
            </a:r>
            <a:endParaRPr/>
          </a:p>
        </p:txBody>
      </p:sp>
      <p:sp>
        <p:nvSpPr>
          <p:cNvPr id="199" name="Google Shape;199;p27"/>
          <p:cNvSpPr txBox="1"/>
          <p:nvPr>
            <p:ph idx="5" type="title"/>
          </p:nvPr>
        </p:nvSpPr>
        <p:spPr>
          <a:xfrm>
            <a:off x="1648300" y="3268050"/>
            <a:ext cx="2583900" cy="42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Models &amp; Methods</a:t>
            </a:r>
            <a:endParaRPr/>
          </a:p>
        </p:txBody>
      </p:sp>
      <p:sp>
        <p:nvSpPr>
          <p:cNvPr id="200" name="Google Shape;200;p27"/>
          <p:cNvSpPr txBox="1"/>
          <p:nvPr>
            <p:ph idx="6" type="title"/>
          </p:nvPr>
        </p:nvSpPr>
        <p:spPr>
          <a:xfrm>
            <a:off x="5840075" y="3268050"/>
            <a:ext cx="2583900" cy="42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Evaluation &amp; results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Real-World Scenarios</a:t>
            </a:r>
            <a:endParaRPr/>
          </a:p>
        </p:txBody>
      </p:sp>
      <p:sp>
        <p:nvSpPr>
          <p:cNvPr id="206" name="Google Shape;206;p28"/>
          <p:cNvSpPr txBox="1"/>
          <p:nvPr/>
        </p:nvSpPr>
        <p:spPr>
          <a:xfrm>
            <a:off x="4898875" y="1279325"/>
            <a:ext cx="4008600" cy="325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latin typeface="Roboto"/>
                <a:ea typeface="Roboto"/>
                <a:cs typeface="Roboto"/>
                <a:sym typeface="Roboto"/>
              </a:rPr>
              <a:t>1. Professional Fraud</a:t>
            </a:r>
            <a:endParaRPr b="1" sz="15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500">
                <a:solidFill>
                  <a:schemeClr val="dk1"/>
                </a:solidFill>
                <a:latin typeface="Roboto"/>
                <a:ea typeface="Roboto"/>
                <a:cs typeface="Roboto"/>
                <a:sym typeface="Roboto"/>
              </a:rPr>
              <a:t>Destroying luxury cars with hammers to collect high-value payouts.</a:t>
            </a:r>
            <a:endParaRPr sz="15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b="1" lang="en" sz="1500">
                <a:solidFill>
                  <a:schemeClr val="dk1"/>
                </a:solidFill>
                <a:latin typeface="Roboto"/>
                <a:ea typeface="Roboto"/>
                <a:cs typeface="Roboto"/>
                <a:sym typeface="Roboto"/>
              </a:rPr>
              <a:t>2. Staged Accidents</a:t>
            </a:r>
            <a:endParaRPr b="1" sz="15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500">
                <a:solidFill>
                  <a:schemeClr val="dk1"/>
                </a:solidFill>
                <a:latin typeface="Roboto"/>
                <a:ea typeface="Roboto"/>
                <a:cs typeface="Roboto"/>
                <a:sym typeface="Roboto"/>
              </a:rPr>
              <a:t>Forcing rear-end crashes to blame innocent drivers.</a:t>
            </a:r>
            <a:endParaRPr sz="15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b="1" lang="en" sz="1500">
                <a:solidFill>
                  <a:schemeClr val="dk1"/>
                </a:solidFill>
                <a:latin typeface="Roboto"/>
                <a:ea typeface="Roboto"/>
                <a:cs typeface="Roboto"/>
                <a:sym typeface="Roboto"/>
              </a:rPr>
              <a:t>3. Opportunistic Fraud</a:t>
            </a:r>
            <a:endParaRPr b="1" sz="15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500">
                <a:solidFill>
                  <a:schemeClr val="dk1"/>
                </a:solidFill>
                <a:latin typeface="Roboto"/>
                <a:ea typeface="Roboto"/>
                <a:cs typeface="Roboto"/>
                <a:sym typeface="Roboto"/>
              </a:rPr>
              <a:t>Buying a policy after an accident to claim pre-existing damage.</a:t>
            </a:r>
            <a:endParaRPr sz="1100"/>
          </a:p>
          <a:p>
            <a:pPr indent="0" lvl="0" marL="0" rtl="0" algn="l">
              <a:spcBef>
                <a:spcPts val="0"/>
              </a:spcBef>
              <a:spcAft>
                <a:spcPts val="0"/>
              </a:spcAft>
              <a:buNone/>
            </a:pPr>
            <a:r>
              <a:t/>
            </a:r>
            <a:endParaRPr sz="1500">
              <a:solidFill>
                <a:schemeClr val="dk1"/>
              </a:solidFill>
              <a:latin typeface="Roboto"/>
              <a:ea typeface="Roboto"/>
              <a:cs typeface="Roboto"/>
              <a:sym typeface="Roboto"/>
            </a:endParaRPr>
          </a:p>
        </p:txBody>
      </p:sp>
      <p:pic>
        <p:nvPicPr>
          <p:cNvPr id="207" name="Google Shape;207;p28"/>
          <p:cNvPicPr preferRelativeResize="0"/>
          <p:nvPr/>
        </p:nvPicPr>
        <p:blipFill rotWithShape="1">
          <a:blip r:embed="rId3">
            <a:alphaModFix/>
          </a:blip>
          <a:srcRect b="0" l="0" r="49655" t="24012"/>
          <a:stretch/>
        </p:blipFill>
        <p:spPr>
          <a:xfrm>
            <a:off x="0" y="1279325"/>
            <a:ext cx="4689874" cy="3864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3438675" y="191525"/>
            <a:ext cx="4459500" cy="57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Fraud = Invisible Profit Loss</a:t>
            </a:r>
            <a:endParaRPr sz="2200"/>
          </a:p>
        </p:txBody>
      </p:sp>
      <p:sp>
        <p:nvSpPr>
          <p:cNvPr id="213" name="Google Shape;213;p29"/>
          <p:cNvSpPr txBox="1"/>
          <p:nvPr>
            <p:ph idx="1" type="subTitle"/>
          </p:nvPr>
        </p:nvSpPr>
        <p:spPr>
          <a:xfrm>
            <a:off x="3438675" y="902750"/>
            <a:ext cx="5631000" cy="4044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The Problem</a:t>
            </a:r>
            <a:endParaRPr b="1"/>
          </a:p>
          <a:p>
            <a:pPr indent="0" lvl="0" marL="0" rtl="0" algn="l">
              <a:lnSpc>
                <a:spcPct val="115000"/>
              </a:lnSpc>
              <a:spcBef>
                <a:spcPts val="0"/>
              </a:spcBef>
              <a:spcAft>
                <a:spcPts val="0"/>
              </a:spcAft>
              <a:buNone/>
            </a:pPr>
            <a:r>
              <a:rPr lang="en"/>
              <a:t>For insurance companies manual fraud detection is slow, expensive, and prone to human error.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
              <a:t>The Solution</a:t>
            </a:r>
            <a:endParaRPr b="1"/>
          </a:p>
          <a:p>
            <a:pPr indent="0" lvl="0" marL="0" rtl="0" algn="l">
              <a:lnSpc>
                <a:spcPct val="115000"/>
              </a:lnSpc>
              <a:spcBef>
                <a:spcPts val="0"/>
              </a:spcBef>
              <a:spcAft>
                <a:spcPts val="0"/>
              </a:spcAft>
              <a:buNone/>
            </a:pPr>
            <a:r>
              <a:rPr lang="en"/>
              <a:t>A binary classification model trained on historical claim data.</a:t>
            </a:r>
            <a:endParaRPr/>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b="1" lang="en"/>
              <a:t>How?</a:t>
            </a:r>
            <a:endParaRPr b="1"/>
          </a:p>
          <a:p>
            <a:pPr indent="-304800" lvl="0" marL="457200" rtl="0" algn="l">
              <a:lnSpc>
                <a:spcPct val="115000"/>
              </a:lnSpc>
              <a:spcBef>
                <a:spcPts val="0"/>
              </a:spcBef>
              <a:spcAft>
                <a:spcPts val="0"/>
              </a:spcAft>
              <a:buSzPts val="1200"/>
              <a:buChar char="●"/>
            </a:pPr>
            <a:r>
              <a:rPr b="1" lang="en"/>
              <a:t>Input:</a:t>
            </a:r>
            <a:r>
              <a:rPr lang="en"/>
              <a:t> historical claims labeled.</a:t>
            </a:r>
            <a:endParaRPr/>
          </a:p>
          <a:p>
            <a:pPr indent="0" lvl="0" marL="457200" rtl="0" algn="l">
              <a:lnSpc>
                <a:spcPct val="115000"/>
              </a:lnSpc>
              <a:spcBef>
                <a:spcPts val="0"/>
              </a:spcBef>
              <a:spcAft>
                <a:spcPts val="0"/>
              </a:spcAft>
              <a:buNone/>
            </a:pPr>
            <a:r>
              <a:t/>
            </a:r>
            <a:endParaRPr/>
          </a:p>
          <a:p>
            <a:pPr indent="-304800" lvl="0" marL="457200" rtl="0" algn="l">
              <a:lnSpc>
                <a:spcPct val="115000"/>
              </a:lnSpc>
              <a:spcBef>
                <a:spcPts val="0"/>
              </a:spcBef>
              <a:spcAft>
                <a:spcPts val="0"/>
              </a:spcAft>
              <a:buSzPts val="1200"/>
              <a:buChar char="●"/>
            </a:pPr>
            <a:r>
              <a:rPr b="1" lang="en"/>
              <a:t>Output: </a:t>
            </a:r>
            <a:r>
              <a:rPr lang="en"/>
              <a:t>A binary prediction (fraud vs. legitimate) to prioritize high-risk investigations.</a:t>
            </a:r>
            <a:endParaRPr/>
          </a:p>
          <a:p>
            <a:pPr indent="0" lvl="0" marL="457200" rtl="0" algn="l">
              <a:lnSpc>
                <a:spcPct val="115000"/>
              </a:lnSpc>
              <a:spcBef>
                <a:spcPts val="0"/>
              </a:spcBef>
              <a:spcAft>
                <a:spcPts val="0"/>
              </a:spcAft>
              <a:buNone/>
            </a:pPr>
            <a:r>
              <a:t/>
            </a:r>
            <a:endParaRPr sz="1100">
              <a:solidFill>
                <a:srgbClr val="000000"/>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100">
              <a:solidFill>
                <a:srgbClr val="000000"/>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100">
              <a:solidFill>
                <a:srgbClr val="000000"/>
              </a:solidFill>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1100">
              <a:solidFill>
                <a:srgbClr val="000000"/>
              </a:solidFill>
              <a:latin typeface="Times New Roman"/>
              <a:ea typeface="Times New Roman"/>
              <a:cs typeface="Times New Roman"/>
              <a:sym typeface="Times New Roman"/>
            </a:endParaRPr>
          </a:p>
        </p:txBody>
      </p:sp>
      <p:pic>
        <p:nvPicPr>
          <p:cNvPr id="214" name="Google Shape;214;p29"/>
          <p:cNvPicPr preferRelativeResize="0"/>
          <p:nvPr>
            <p:ph idx="2" type="pic"/>
          </p:nvPr>
        </p:nvPicPr>
        <p:blipFill rotWithShape="1">
          <a:blip r:embed="rId3">
            <a:alphaModFix/>
          </a:blip>
          <a:srcRect b="0" l="29475" r="29475" t="0"/>
          <a:stretch/>
        </p:blipFill>
        <p:spPr>
          <a:xfrm>
            <a:off x="0" y="0"/>
            <a:ext cx="3168000" cy="5143501"/>
          </a:xfrm>
          <a:prstGeom prst="rect">
            <a:avLst/>
          </a:prstGeom>
        </p:spPr>
      </p:pic>
      <p:sp>
        <p:nvSpPr>
          <p:cNvPr id="215" name="Google Shape;215;p29"/>
          <p:cNvSpPr/>
          <p:nvPr/>
        </p:nvSpPr>
        <p:spPr>
          <a:xfrm rot="5400000">
            <a:off x="-323636" y="2541607"/>
            <a:ext cx="3226104" cy="2578847"/>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rgbClr val="CA0505">
              <a:alpha val="3182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29"/>
          <p:cNvSpPr/>
          <p:nvPr/>
        </p:nvSpPr>
        <p:spPr>
          <a:xfrm rot="5400000">
            <a:off x="-155331" y="3750302"/>
            <a:ext cx="1548530" cy="1237847"/>
          </a:xfrm>
          <a:custGeom>
            <a:rect b="b" l="l" r="r" t="t"/>
            <a:pathLst>
              <a:path extrusionOk="0" h="2578847" w="3226104">
                <a:moveTo>
                  <a:pt x="3225951" y="192"/>
                </a:moveTo>
                <a:lnTo>
                  <a:pt x="3225951" y="2578848"/>
                </a:lnTo>
                <a:lnTo>
                  <a:pt x="0" y="2578848"/>
                </a:lnTo>
                <a:cubicBezTo>
                  <a:pt x="0" y="2578848"/>
                  <a:pt x="3251859" y="-25716"/>
                  <a:pt x="3225951" y="19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217" name="Google Shape;217;p29"/>
          <p:cNvPicPr preferRelativeResize="0"/>
          <p:nvPr/>
        </p:nvPicPr>
        <p:blipFill>
          <a:blip r:embed="rId4">
            <a:alphaModFix/>
          </a:blip>
          <a:stretch>
            <a:fillRect/>
          </a:stretch>
        </p:blipFill>
        <p:spPr>
          <a:xfrm>
            <a:off x="7223350" y="54564"/>
            <a:ext cx="848175" cy="848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275550" y="2932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Overview</a:t>
            </a:r>
            <a:endParaRPr/>
          </a:p>
        </p:txBody>
      </p:sp>
      <p:sp>
        <p:nvSpPr>
          <p:cNvPr id="223" name="Google Shape;223;p30"/>
          <p:cNvSpPr txBox="1"/>
          <p:nvPr/>
        </p:nvSpPr>
        <p:spPr>
          <a:xfrm>
            <a:off x="275550" y="865950"/>
            <a:ext cx="4124400" cy="4155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600">
                <a:latin typeface="Roboto"/>
                <a:ea typeface="Roboto"/>
                <a:cs typeface="Roboto"/>
                <a:sym typeface="Roboto"/>
              </a:rPr>
              <a:t>Source: </a:t>
            </a:r>
            <a:r>
              <a:rPr lang="en" sz="1600">
                <a:latin typeface="Roboto"/>
                <a:ea typeface="Roboto"/>
                <a:cs typeface="Roboto"/>
                <a:sym typeface="Roboto"/>
              </a:rPr>
              <a:t>Kaggle "Fraud Oracle" dataset</a:t>
            </a:r>
            <a:endParaRPr b="1" sz="1600">
              <a:latin typeface="Roboto"/>
              <a:ea typeface="Roboto"/>
              <a:cs typeface="Roboto"/>
              <a:sym typeface="Roboto"/>
            </a:endParaRPr>
          </a:p>
          <a:p>
            <a:pPr indent="0" lvl="0" marL="0" rtl="0" algn="l">
              <a:lnSpc>
                <a:spcPct val="100000"/>
              </a:lnSpc>
              <a:spcBef>
                <a:spcPts val="1200"/>
              </a:spcBef>
              <a:spcAft>
                <a:spcPts val="0"/>
              </a:spcAft>
              <a:buNone/>
            </a:pPr>
            <a:r>
              <a:rPr b="1" lang="en" sz="1600">
                <a:latin typeface="Roboto"/>
                <a:ea typeface="Roboto"/>
                <a:cs typeface="Roboto"/>
                <a:sym typeface="Roboto"/>
              </a:rPr>
              <a:t>Volume: </a:t>
            </a:r>
            <a:r>
              <a:rPr lang="en" sz="1600">
                <a:latin typeface="Roboto"/>
                <a:ea typeface="Roboto"/>
                <a:cs typeface="Roboto"/>
                <a:sym typeface="Roboto"/>
              </a:rPr>
              <a:t>15,420 rows and 33 features (24 categorical variables)</a:t>
            </a:r>
            <a:endParaRPr sz="1600">
              <a:latin typeface="Roboto"/>
              <a:ea typeface="Roboto"/>
              <a:cs typeface="Roboto"/>
              <a:sym typeface="Roboto"/>
            </a:endParaRPr>
          </a:p>
          <a:p>
            <a:pPr indent="0" lvl="0" marL="0" rtl="0" algn="l">
              <a:lnSpc>
                <a:spcPct val="100000"/>
              </a:lnSpc>
              <a:spcBef>
                <a:spcPts val="1200"/>
              </a:spcBef>
              <a:spcAft>
                <a:spcPts val="0"/>
              </a:spcAft>
              <a:buNone/>
            </a:pPr>
            <a:r>
              <a:rPr b="1" lang="en" sz="1600">
                <a:latin typeface="Roboto"/>
                <a:ea typeface="Roboto"/>
                <a:cs typeface="Roboto"/>
                <a:sym typeface="Roboto"/>
              </a:rPr>
              <a:t>Target: </a:t>
            </a:r>
            <a:r>
              <a:rPr lang="en" sz="1600">
                <a:latin typeface="Roboto"/>
                <a:ea typeface="Roboto"/>
                <a:cs typeface="Roboto"/>
                <a:sym typeface="Roboto"/>
              </a:rPr>
              <a:t>FraudFound_P (Binary: 0 or 1)</a:t>
            </a:r>
            <a:endParaRPr b="1" sz="1600">
              <a:latin typeface="Roboto"/>
              <a:ea typeface="Roboto"/>
              <a:cs typeface="Roboto"/>
              <a:sym typeface="Roboto"/>
            </a:endParaRPr>
          </a:p>
          <a:p>
            <a:pPr indent="0" lvl="0" marL="0" rtl="0" algn="l">
              <a:lnSpc>
                <a:spcPct val="100000"/>
              </a:lnSpc>
              <a:spcBef>
                <a:spcPts val="1200"/>
              </a:spcBef>
              <a:spcAft>
                <a:spcPts val="0"/>
              </a:spcAft>
              <a:buNone/>
            </a:pPr>
            <a:r>
              <a:rPr b="1" lang="en" sz="1600">
                <a:latin typeface="Roboto"/>
                <a:ea typeface="Roboto"/>
                <a:cs typeface="Roboto"/>
                <a:sym typeface="Roboto"/>
              </a:rPr>
              <a:t>Limitation: </a:t>
            </a:r>
            <a:r>
              <a:rPr lang="en" sz="1600">
                <a:latin typeface="Roboto"/>
                <a:ea typeface="Roboto"/>
                <a:cs typeface="Roboto"/>
                <a:sym typeface="Roboto"/>
              </a:rPr>
              <a:t>Historical data (1994-1996) with no specific claim timestamps</a:t>
            </a:r>
            <a:endParaRPr sz="1600">
              <a:latin typeface="Roboto"/>
              <a:ea typeface="Roboto"/>
              <a:cs typeface="Roboto"/>
              <a:sym typeface="Roboto"/>
            </a:endParaRPr>
          </a:p>
          <a:p>
            <a:pPr indent="0" lvl="0" marL="0" rtl="0" algn="l">
              <a:lnSpc>
                <a:spcPct val="100000"/>
              </a:lnSpc>
              <a:spcBef>
                <a:spcPts val="1200"/>
              </a:spcBef>
              <a:spcAft>
                <a:spcPts val="0"/>
              </a:spcAft>
              <a:buNone/>
            </a:pPr>
            <a:r>
              <a:rPr b="1" lang="en" sz="1600">
                <a:latin typeface="Roboto"/>
                <a:ea typeface="Roboto"/>
                <a:cs typeface="Roboto"/>
                <a:sym typeface="Roboto"/>
              </a:rPr>
              <a:t>Key Features: 	</a:t>
            </a:r>
            <a:endParaRPr b="1" sz="1600">
              <a:latin typeface="Roboto"/>
              <a:ea typeface="Roboto"/>
              <a:cs typeface="Roboto"/>
              <a:sym typeface="Roboto"/>
            </a:endParaRPr>
          </a:p>
          <a:p>
            <a:pPr indent="-330200" lvl="0" marL="457200" rtl="0" algn="l">
              <a:lnSpc>
                <a:spcPct val="100000"/>
              </a:lnSpc>
              <a:spcBef>
                <a:spcPts val="1200"/>
              </a:spcBef>
              <a:spcAft>
                <a:spcPts val="0"/>
              </a:spcAft>
              <a:buSzPts val="1600"/>
              <a:buFont typeface="Roboto"/>
              <a:buChar char="-"/>
            </a:pPr>
            <a:r>
              <a:rPr lang="en" sz="1600">
                <a:latin typeface="Roboto"/>
                <a:ea typeface="Roboto"/>
                <a:cs typeface="Roboto"/>
                <a:sym typeface="Roboto"/>
              </a:rPr>
              <a:t>Policy (‘BasePolicy’, ‘Deductible’)</a:t>
            </a:r>
            <a:endParaRPr sz="1600">
              <a:latin typeface="Roboto"/>
              <a:ea typeface="Roboto"/>
              <a:cs typeface="Roboto"/>
              <a:sym typeface="Roboto"/>
            </a:endParaRPr>
          </a:p>
          <a:p>
            <a:pPr indent="-330200" lvl="0" marL="457200" rtl="0" algn="l">
              <a:lnSpc>
                <a:spcPct val="100000"/>
              </a:lnSpc>
              <a:spcBef>
                <a:spcPts val="0"/>
              </a:spcBef>
              <a:spcAft>
                <a:spcPts val="0"/>
              </a:spcAft>
              <a:buSzPts val="1600"/>
              <a:buFont typeface="Roboto"/>
              <a:buChar char="-"/>
            </a:pPr>
            <a:r>
              <a:rPr lang="en" sz="1600">
                <a:latin typeface="Roboto"/>
                <a:ea typeface="Roboto"/>
                <a:cs typeface="Roboto"/>
                <a:sym typeface="Roboto"/>
              </a:rPr>
              <a:t>Vehicle &amp; Driver: ‘VehiclePrice’, ‘VehicleCategory’, ‘AgeOfPolicyHolder’, DriverRating.</a:t>
            </a:r>
            <a:endParaRPr sz="1600">
              <a:latin typeface="Roboto"/>
              <a:ea typeface="Roboto"/>
              <a:cs typeface="Roboto"/>
              <a:sym typeface="Roboto"/>
            </a:endParaRPr>
          </a:p>
          <a:p>
            <a:pPr indent="-330200" lvl="0" marL="457200" rtl="0" algn="l">
              <a:lnSpc>
                <a:spcPct val="100000"/>
              </a:lnSpc>
              <a:spcBef>
                <a:spcPts val="0"/>
              </a:spcBef>
              <a:spcAft>
                <a:spcPts val="0"/>
              </a:spcAft>
              <a:buSzPts val="1600"/>
              <a:buFont typeface="Roboto"/>
              <a:buChar char="-"/>
            </a:pPr>
            <a:r>
              <a:rPr lang="en" sz="1600">
                <a:latin typeface="Roboto"/>
                <a:ea typeface="Roboto"/>
                <a:cs typeface="Roboto"/>
                <a:sym typeface="Roboto"/>
              </a:rPr>
              <a:t>Incident Details: Fault, AccidentArea, PoliceReportFiled.</a:t>
            </a:r>
            <a:endParaRPr sz="1100">
              <a:latin typeface="Roboto"/>
              <a:ea typeface="Roboto"/>
              <a:cs typeface="Roboto"/>
              <a:sym typeface="Roboto"/>
            </a:endParaRPr>
          </a:p>
        </p:txBody>
      </p:sp>
      <p:pic>
        <p:nvPicPr>
          <p:cNvPr id="224" name="Google Shape;224;p30"/>
          <p:cNvPicPr preferRelativeResize="0"/>
          <p:nvPr/>
        </p:nvPicPr>
        <p:blipFill>
          <a:blip r:embed="rId3">
            <a:alphaModFix/>
          </a:blip>
          <a:stretch>
            <a:fillRect/>
          </a:stretch>
        </p:blipFill>
        <p:spPr>
          <a:xfrm>
            <a:off x="4861450" y="762650"/>
            <a:ext cx="3415300" cy="3618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535250" y="308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a:t>
            </a:r>
            <a:endParaRPr/>
          </a:p>
        </p:txBody>
      </p:sp>
      <p:pic>
        <p:nvPicPr>
          <p:cNvPr id="230" name="Google Shape;230;p31"/>
          <p:cNvPicPr preferRelativeResize="0"/>
          <p:nvPr/>
        </p:nvPicPr>
        <p:blipFill rotWithShape="1">
          <a:blip r:embed="rId3">
            <a:alphaModFix/>
          </a:blip>
          <a:srcRect b="0" l="8500" r="-8500" t="0"/>
          <a:stretch/>
        </p:blipFill>
        <p:spPr>
          <a:xfrm>
            <a:off x="3233475" y="199600"/>
            <a:ext cx="789949" cy="789949"/>
          </a:xfrm>
          <a:prstGeom prst="rect">
            <a:avLst/>
          </a:prstGeom>
          <a:noFill/>
          <a:ln>
            <a:noFill/>
          </a:ln>
        </p:spPr>
      </p:pic>
      <p:sp>
        <p:nvSpPr>
          <p:cNvPr id="231" name="Google Shape;231;p31"/>
          <p:cNvSpPr/>
          <p:nvPr/>
        </p:nvSpPr>
        <p:spPr>
          <a:xfrm>
            <a:off x="1647573" y="2688250"/>
            <a:ext cx="256200" cy="17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32" name="Google Shape;232;p31"/>
          <p:cNvSpPr txBox="1"/>
          <p:nvPr/>
        </p:nvSpPr>
        <p:spPr>
          <a:xfrm flipH="1">
            <a:off x="1994293" y="1545451"/>
            <a:ext cx="2109300" cy="629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Roboto"/>
                <a:ea typeface="Roboto"/>
                <a:cs typeface="Roboto"/>
                <a:sym typeface="Roboto"/>
              </a:rPr>
              <a:t>2. Cleaning </a:t>
            </a:r>
            <a:endParaRPr b="1" sz="1600">
              <a:solidFill>
                <a:schemeClr val="dk1"/>
              </a:solidFill>
              <a:latin typeface="Roboto"/>
              <a:ea typeface="Roboto"/>
              <a:cs typeface="Roboto"/>
              <a:sym typeface="Roboto"/>
            </a:endParaRPr>
          </a:p>
        </p:txBody>
      </p:sp>
      <p:sp>
        <p:nvSpPr>
          <p:cNvPr id="233" name="Google Shape;233;p31"/>
          <p:cNvSpPr txBox="1"/>
          <p:nvPr/>
        </p:nvSpPr>
        <p:spPr>
          <a:xfrm flipH="1">
            <a:off x="4540912" y="1529625"/>
            <a:ext cx="2109300" cy="629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Mukta"/>
                <a:ea typeface="Mukta"/>
                <a:cs typeface="Mukta"/>
                <a:sym typeface="Mukta"/>
              </a:rPr>
              <a:t>4. Encoding</a:t>
            </a:r>
            <a:endParaRPr b="1" sz="1600">
              <a:solidFill>
                <a:schemeClr val="dk1"/>
              </a:solidFill>
              <a:latin typeface="Mukta"/>
              <a:ea typeface="Mukta"/>
              <a:cs typeface="Mukta"/>
              <a:sym typeface="Mukta"/>
            </a:endParaRPr>
          </a:p>
        </p:txBody>
      </p:sp>
      <p:sp>
        <p:nvSpPr>
          <p:cNvPr id="234" name="Google Shape;234;p31"/>
          <p:cNvSpPr txBox="1"/>
          <p:nvPr/>
        </p:nvSpPr>
        <p:spPr>
          <a:xfrm flipH="1">
            <a:off x="720983" y="3397175"/>
            <a:ext cx="2109300" cy="629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n" sz="1600">
                <a:solidFill>
                  <a:schemeClr val="dk1"/>
                </a:solidFill>
                <a:latin typeface="Roboto"/>
                <a:ea typeface="Roboto"/>
                <a:cs typeface="Roboto"/>
                <a:sym typeface="Roboto"/>
              </a:rPr>
              <a:t>1. </a:t>
            </a:r>
            <a:r>
              <a:rPr b="1" lang="en" sz="1600">
                <a:solidFill>
                  <a:schemeClr val="dk1"/>
                </a:solidFill>
                <a:latin typeface="Roboto"/>
                <a:ea typeface="Roboto"/>
                <a:cs typeface="Roboto"/>
                <a:sym typeface="Roboto"/>
              </a:rPr>
              <a:t>Raw Data</a:t>
            </a:r>
            <a:r>
              <a:rPr lang="en" sz="1600">
                <a:solidFill>
                  <a:schemeClr val="dk1"/>
                </a:solidFill>
                <a:latin typeface="Roboto"/>
                <a:ea typeface="Roboto"/>
                <a:cs typeface="Roboto"/>
                <a:sym typeface="Roboto"/>
              </a:rPr>
              <a:t> </a:t>
            </a:r>
            <a:endParaRPr b="1" sz="1600">
              <a:solidFill>
                <a:schemeClr val="dk1"/>
              </a:solidFill>
              <a:latin typeface="Mukta"/>
              <a:ea typeface="Mukta"/>
              <a:cs typeface="Mukta"/>
              <a:sym typeface="Mukta"/>
            </a:endParaRPr>
          </a:p>
        </p:txBody>
      </p:sp>
      <p:sp>
        <p:nvSpPr>
          <p:cNvPr id="235" name="Google Shape;235;p31"/>
          <p:cNvSpPr txBox="1"/>
          <p:nvPr/>
        </p:nvSpPr>
        <p:spPr>
          <a:xfrm flipH="1">
            <a:off x="3267602" y="3397175"/>
            <a:ext cx="2109300" cy="62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Roboto"/>
                <a:ea typeface="Roboto"/>
                <a:cs typeface="Roboto"/>
                <a:sym typeface="Roboto"/>
              </a:rPr>
              <a:t>3. Feature Engineering</a:t>
            </a:r>
            <a:endParaRPr b="1" sz="1600">
              <a:solidFill>
                <a:schemeClr val="dk1"/>
              </a:solidFill>
              <a:latin typeface="Roboto"/>
              <a:ea typeface="Roboto"/>
              <a:cs typeface="Roboto"/>
              <a:sym typeface="Roboto"/>
            </a:endParaRPr>
          </a:p>
        </p:txBody>
      </p:sp>
      <p:sp>
        <p:nvSpPr>
          <p:cNvPr id="236" name="Google Shape;236;p31"/>
          <p:cNvSpPr txBox="1"/>
          <p:nvPr/>
        </p:nvSpPr>
        <p:spPr>
          <a:xfrm flipH="1">
            <a:off x="5814221" y="3397175"/>
            <a:ext cx="2109300" cy="62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Roboto"/>
                <a:ea typeface="Roboto"/>
                <a:cs typeface="Roboto"/>
                <a:sym typeface="Roboto"/>
              </a:rPr>
              <a:t>5. Final Dataset</a:t>
            </a:r>
            <a:endParaRPr b="1" sz="1600">
              <a:solidFill>
                <a:schemeClr val="dk1"/>
              </a:solidFill>
              <a:latin typeface="Roboto"/>
              <a:ea typeface="Roboto"/>
              <a:cs typeface="Roboto"/>
              <a:sym typeface="Roboto"/>
            </a:endParaRPr>
          </a:p>
        </p:txBody>
      </p:sp>
      <p:sp>
        <p:nvSpPr>
          <p:cNvPr id="237" name="Google Shape;237;p31"/>
          <p:cNvSpPr/>
          <p:nvPr/>
        </p:nvSpPr>
        <p:spPr>
          <a:xfrm>
            <a:off x="2920883" y="2688250"/>
            <a:ext cx="256200" cy="17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38" name="Google Shape;238;p31"/>
          <p:cNvSpPr/>
          <p:nvPr/>
        </p:nvSpPr>
        <p:spPr>
          <a:xfrm>
            <a:off x="4194192" y="2688250"/>
            <a:ext cx="256200" cy="17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39" name="Google Shape;239;p31"/>
          <p:cNvSpPr/>
          <p:nvPr/>
        </p:nvSpPr>
        <p:spPr>
          <a:xfrm>
            <a:off x="5467502" y="2688250"/>
            <a:ext cx="256200" cy="17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40" name="Google Shape;240;p31"/>
          <p:cNvSpPr/>
          <p:nvPr/>
        </p:nvSpPr>
        <p:spPr>
          <a:xfrm>
            <a:off x="6740811" y="2688250"/>
            <a:ext cx="256200" cy="17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cxnSp>
        <p:nvCxnSpPr>
          <p:cNvPr id="241" name="Google Shape;241;p31"/>
          <p:cNvCxnSpPr>
            <a:stCxn id="231" idx="2"/>
          </p:cNvCxnSpPr>
          <p:nvPr/>
        </p:nvCxnSpPr>
        <p:spPr>
          <a:xfrm rot="10800000">
            <a:off x="717573" y="2777950"/>
            <a:ext cx="930000" cy="0"/>
          </a:xfrm>
          <a:prstGeom prst="straightConnector1">
            <a:avLst/>
          </a:prstGeom>
          <a:noFill/>
          <a:ln cap="flat" cmpd="sng" w="9525">
            <a:solidFill>
              <a:schemeClr val="dk1"/>
            </a:solidFill>
            <a:prstDash val="solid"/>
            <a:round/>
            <a:headEnd len="med" w="med" type="none"/>
            <a:tailEnd len="med" w="med" type="none"/>
          </a:ln>
        </p:spPr>
      </p:cxnSp>
      <p:cxnSp>
        <p:nvCxnSpPr>
          <p:cNvPr id="242" name="Google Shape;242;p31"/>
          <p:cNvCxnSpPr>
            <a:stCxn id="231" idx="6"/>
            <a:endCxn id="237" idx="2"/>
          </p:cNvCxnSpPr>
          <p:nvPr/>
        </p:nvCxnSpPr>
        <p:spPr>
          <a:xfrm>
            <a:off x="1903773" y="2777950"/>
            <a:ext cx="1017000" cy="0"/>
          </a:xfrm>
          <a:prstGeom prst="straightConnector1">
            <a:avLst/>
          </a:prstGeom>
          <a:noFill/>
          <a:ln cap="flat" cmpd="sng" w="9525">
            <a:solidFill>
              <a:schemeClr val="dk1"/>
            </a:solidFill>
            <a:prstDash val="solid"/>
            <a:round/>
            <a:headEnd len="med" w="med" type="none"/>
            <a:tailEnd len="med" w="med" type="none"/>
          </a:ln>
        </p:spPr>
      </p:cxnSp>
      <p:cxnSp>
        <p:nvCxnSpPr>
          <p:cNvPr id="243" name="Google Shape;243;p31"/>
          <p:cNvCxnSpPr>
            <a:stCxn id="237" idx="6"/>
            <a:endCxn id="238" idx="2"/>
          </p:cNvCxnSpPr>
          <p:nvPr/>
        </p:nvCxnSpPr>
        <p:spPr>
          <a:xfrm>
            <a:off x="3177083" y="2777950"/>
            <a:ext cx="1017000" cy="0"/>
          </a:xfrm>
          <a:prstGeom prst="straightConnector1">
            <a:avLst/>
          </a:prstGeom>
          <a:noFill/>
          <a:ln cap="flat" cmpd="sng" w="9525">
            <a:solidFill>
              <a:schemeClr val="dk1"/>
            </a:solidFill>
            <a:prstDash val="solid"/>
            <a:round/>
            <a:headEnd len="med" w="med" type="none"/>
            <a:tailEnd len="med" w="med" type="none"/>
          </a:ln>
        </p:spPr>
      </p:cxnSp>
      <p:cxnSp>
        <p:nvCxnSpPr>
          <p:cNvPr id="244" name="Google Shape;244;p31"/>
          <p:cNvCxnSpPr>
            <a:stCxn id="238" idx="6"/>
            <a:endCxn id="239" idx="2"/>
          </p:cNvCxnSpPr>
          <p:nvPr/>
        </p:nvCxnSpPr>
        <p:spPr>
          <a:xfrm>
            <a:off x="4450392" y="2777950"/>
            <a:ext cx="1017000" cy="0"/>
          </a:xfrm>
          <a:prstGeom prst="straightConnector1">
            <a:avLst/>
          </a:prstGeom>
          <a:noFill/>
          <a:ln cap="flat" cmpd="sng" w="9525">
            <a:solidFill>
              <a:schemeClr val="dk1"/>
            </a:solidFill>
            <a:prstDash val="solid"/>
            <a:round/>
            <a:headEnd len="med" w="med" type="none"/>
            <a:tailEnd len="med" w="med" type="none"/>
          </a:ln>
        </p:spPr>
      </p:cxnSp>
      <p:cxnSp>
        <p:nvCxnSpPr>
          <p:cNvPr id="245" name="Google Shape;245;p31"/>
          <p:cNvCxnSpPr>
            <a:stCxn id="239" idx="6"/>
            <a:endCxn id="240" idx="2"/>
          </p:cNvCxnSpPr>
          <p:nvPr/>
        </p:nvCxnSpPr>
        <p:spPr>
          <a:xfrm>
            <a:off x="5723702" y="2777950"/>
            <a:ext cx="1017000" cy="0"/>
          </a:xfrm>
          <a:prstGeom prst="straightConnector1">
            <a:avLst/>
          </a:prstGeom>
          <a:noFill/>
          <a:ln cap="flat" cmpd="sng" w="9525">
            <a:solidFill>
              <a:schemeClr val="dk1"/>
            </a:solidFill>
            <a:prstDash val="solid"/>
            <a:round/>
            <a:headEnd len="med" w="med" type="none"/>
            <a:tailEnd len="med" w="med" type="none"/>
          </a:ln>
        </p:spPr>
      </p:cxnSp>
      <p:cxnSp>
        <p:nvCxnSpPr>
          <p:cNvPr id="246" name="Google Shape;246;p31"/>
          <p:cNvCxnSpPr>
            <a:stCxn id="240" idx="6"/>
            <a:endCxn id="247" idx="2"/>
          </p:cNvCxnSpPr>
          <p:nvPr/>
        </p:nvCxnSpPr>
        <p:spPr>
          <a:xfrm>
            <a:off x="6997011" y="2777950"/>
            <a:ext cx="1017300" cy="0"/>
          </a:xfrm>
          <a:prstGeom prst="straightConnector1">
            <a:avLst/>
          </a:prstGeom>
          <a:noFill/>
          <a:ln cap="flat" cmpd="sng" w="9525">
            <a:solidFill>
              <a:schemeClr val="dk1"/>
            </a:solidFill>
            <a:prstDash val="solid"/>
            <a:round/>
            <a:headEnd len="med" w="med" type="none"/>
            <a:tailEnd len="med" w="med" type="none"/>
          </a:ln>
        </p:spPr>
      </p:cxnSp>
      <p:cxnSp>
        <p:nvCxnSpPr>
          <p:cNvPr id="248" name="Google Shape;248;p31"/>
          <p:cNvCxnSpPr>
            <a:stCxn id="231" idx="4"/>
            <a:endCxn id="234" idx="0"/>
          </p:cNvCxnSpPr>
          <p:nvPr/>
        </p:nvCxnSpPr>
        <p:spPr>
          <a:xfrm>
            <a:off x="1775673" y="2867650"/>
            <a:ext cx="0" cy="529500"/>
          </a:xfrm>
          <a:prstGeom prst="straightConnector1">
            <a:avLst/>
          </a:prstGeom>
          <a:noFill/>
          <a:ln cap="flat" cmpd="sng" w="9525">
            <a:solidFill>
              <a:schemeClr val="dk1"/>
            </a:solidFill>
            <a:prstDash val="solid"/>
            <a:round/>
            <a:headEnd len="med" w="med" type="none"/>
            <a:tailEnd len="med" w="med" type="none"/>
          </a:ln>
        </p:spPr>
      </p:cxnSp>
      <p:cxnSp>
        <p:nvCxnSpPr>
          <p:cNvPr id="249" name="Google Shape;249;p31"/>
          <p:cNvCxnSpPr>
            <a:stCxn id="237" idx="0"/>
            <a:endCxn id="232" idx="2"/>
          </p:cNvCxnSpPr>
          <p:nvPr/>
        </p:nvCxnSpPr>
        <p:spPr>
          <a:xfrm rot="10800000">
            <a:off x="3048983" y="2174650"/>
            <a:ext cx="0" cy="513600"/>
          </a:xfrm>
          <a:prstGeom prst="straightConnector1">
            <a:avLst/>
          </a:prstGeom>
          <a:noFill/>
          <a:ln cap="flat" cmpd="sng" w="9525">
            <a:solidFill>
              <a:schemeClr val="dk1"/>
            </a:solidFill>
            <a:prstDash val="solid"/>
            <a:round/>
            <a:headEnd len="med" w="med" type="none"/>
            <a:tailEnd len="med" w="med" type="none"/>
          </a:ln>
        </p:spPr>
      </p:cxnSp>
      <p:cxnSp>
        <p:nvCxnSpPr>
          <p:cNvPr id="250" name="Google Shape;250;p31"/>
          <p:cNvCxnSpPr>
            <a:stCxn id="238" idx="4"/>
            <a:endCxn id="235" idx="0"/>
          </p:cNvCxnSpPr>
          <p:nvPr/>
        </p:nvCxnSpPr>
        <p:spPr>
          <a:xfrm>
            <a:off x="4322292" y="2867650"/>
            <a:ext cx="0" cy="529500"/>
          </a:xfrm>
          <a:prstGeom prst="straightConnector1">
            <a:avLst/>
          </a:prstGeom>
          <a:noFill/>
          <a:ln cap="flat" cmpd="sng" w="9525">
            <a:solidFill>
              <a:schemeClr val="dk1"/>
            </a:solidFill>
            <a:prstDash val="solid"/>
            <a:round/>
            <a:headEnd len="med" w="med" type="none"/>
            <a:tailEnd len="med" w="med" type="none"/>
          </a:ln>
        </p:spPr>
      </p:cxnSp>
      <p:cxnSp>
        <p:nvCxnSpPr>
          <p:cNvPr id="251" name="Google Shape;251;p31"/>
          <p:cNvCxnSpPr>
            <a:stCxn id="239" idx="0"/>
            <a:endCxn id="233" idx="2"/>
          </p:cNvCxnSpPr>
          <p:nvPr/>
        </p:nvCxnSpPr>
        <p:spPr>
          <a:xfrm rot="10800000">
            <a:off x="5595602" y="2158750"/>
            <a:ext cx="0" cy="529500"/>
          </a:xfrm>
          <a:prstGeom prst="straightConnector1">
            <a:avLst/>
          </a:prstGeom>
          <a:noFill/>
          <a:ln cap="flat" cmpd="sng" w="9525">
            <a:solidFill>
              <a:schemeClr val="dk1"/>
            </a:solidFill>
            <a:prstDash val="solid"/>
            <a:round/>
            <a:headEnd len="med" w="med" type="none"/>
            <a:tailEnd len="med" w="med" type="none"/>
          </a:ln>
        </p:spPr>
      </p:cxnSp>
      <p:cxnSp>
        <p:nvCxnSpPr>
          <p:cNvPr id="252" name="Google Shape;252;p31"/>
          <p:cNvCxnSpPr>
            <a:stCxn id="240" idx="4"/>
            <a:endCxn id="236" idx="0"/>
          </p:cNvCxnSpPr>
          <p:nvPr/>
        </p:nvCxnSpPr>
        <p:spPr>
          <a:xfrm>
            <a:off x="6868911" y="2867650"/>
            <a:ext cx="0" cy="529500"/>
          </a:xfrm>
          <a:prstGeom prst="straightConnector1">
            <a:avLst/>
          </a:prstGeom>
          <a:noFill/>
          <a:ln cap="flat" cmpd="sng" w="9525">
            <a:solidFill>
              <a:schemeClr val="dk1"/>
            </a:solidFill>
            <a:prstDash val="solid"/>
            <a:round/>
            <a:headEnd len="med" w="med" type="none"/>
            <a:tailEnd len="med" w="med" type="none"/>
          </a:ln>
        </p:spPr>
      </p:cxnSp>
      <p:sp>
        <p:nvSpPr>
          <p:cNvPr id="253" name="Google Shape;253;p31"/>
          <p:cNvSpPr txBox="1"/>
          <p:nvPr/>
        </p:nvSpPr>
        <p:spPr>
          <a:xfrm>
            <a:off x="3377275" y="4095875"/>
            <a:ext cx="2346600" cy="870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Days to report</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Is_Policy_Holder_Driving</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Weekend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Luxury</a:t>
            </a:r>
            <a:endParaRPr sz="1200">
              <a:solidFill>
                <a:schemeClr val="dk1"/>
              </a:solidFill>
              <a:latin typeface="Roboto"/>
              <a:ea typeface="Roboto"/>
              <a:cs typeface="Roboto"/>
              <a:sym typeface="Roboto"/>
            </a:endParaRPr>
          </a:p>
        </p:txBody>
      </p:sp>
      <p:sp>
        <p:nvSpPr>
          <p:cNvPr id="254" name="Google Shape;254;p31"/>
          <p:cNvSpPr txBox="1"/>
          <p:nvPr/>
        </p:nvSpPr>
        <p:spPr>
          <a:xfrm>
            <a:off x="5861982" y="3811025"/>
            <a:ext cx="2421300" cy="870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Train and test split</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SMOTE to balance the dataset</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255" name="Google Shape;255;p31"/>
          <p:cNvSpPr txBox="1"/>
          <p:nvPr/>
        </p:nvSpPr>
        <p:spPr>
          <a:xfrm>
            <a:off x="4657769" y="788216"/>
            <a:ext cx="2991000" cy="8706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900"/>
              </a:spcBef>
              <a:spcAft>
                <a:spcPts val="0"/>
              </a:spcAft>
              <a:buClr>
                <a:schemeClr val="dk1"/>
              </a:buClr>
              <a:buSzPts val="1100"/>
              <a:buFont typeface="Roboto"/>
              <a:buChar char="-"/>
            </a:pPr>
            <a:r>
              <a:rPr lang="en" sz="1100">
                <a:solidFill>
                  <a:schemeClr val="dk1"/>
                </a:solidFill>
                <a:latin typeface="Roboto"/>
                <a:ea typeface="Roboto"/>
                <a:cs typeface="Roboto"/>
                <a:sym typeface="Roboto"/>
              </a:rPr>
              <a:t>Grouping categories with  &lt;100 cases</a:t>
            </a:r>
            <a:endParaRPr sz="6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One hot encoding</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Categorical features conversion to numerical</a:t>
            </a:r>
            <a:endParaRPr sz="11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2"/>
          <p:cNvSpPr txBox="1"/>
          <p:nvPr>
            <p:ph type="title"/>
          </p:nvPr>
        </p:nvSpPr>
        <p:spPr>
          <a:xfrm>
            <a:off x="123825" y="262400"/>
            <a:ext cx="8901600" cy="86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We refuted the myth that 'higher value means less crime”</a:t>
            </a:r>
            <a:endParaRPr sz="2400"/>
          </a:p>
        </p:txBody>
      </p:sp>
      <p:pic>
        <p:nvPicPr>
          <p:cNvPr id="261" name="Google Shape;261;p32"/>
          <p:cNvPicPr preferRelativeResize="0"/>
          <p:nvPr/>
        </p:nvPicPr>
        <p:blipFill rotWithShape="1">
          <a:blip r:embed="rId3">
            <a:alphaModFix/>
          </a:blip>
          <a:srcRect b="0" l="0" r="0" t="21519"/>
          <a:stretch/>
        </p:blipFill>
        <p:spPr>
          <a:xfrm>
            <a:off x="968850" y="802825"/>
            <a:ext cx="7411001" cy="3864425"/>
          </a:xfrm>
          <a:prstGeom prst="rect">
            <a:avLst/>
          </a:prstGeom>
          <a:noFill/>
          <a:ln>
            <a:noFill/>
          </a:ln>
        </p:spPr>
      </p:pic>
      <p:pic>
        <p:nvPicPr>
          <p:cNvPr id="262" name="Google Shape;262;p32"/>
          <p:cNvPicPr preferRelativeResize="0"/>
          <p:nvPr/>
        </p:nvPicPr>
        <p:blipFill>
          <a:blip r:embed="rId4">
            <a:alphaModFix/>
          </a:blip>
          <a:stretch>
            <a:fillRect/>
          </a:stretch>
        </p:blipFill>
        <p:spPr>
          <a:xfrm>
            <a:off x="1495175" y="1761450"/>
            <a:ext cx="892450" cy="562967"/>
          </a:xfrm>
          <a:prstGeom prst="rect">
            <a:avLst/>
          </a:prstGeom>
          <a:noFill/>
          <a:ln>
            <a:noFill/>
          </a:ln>
        </p:spPr>
      </p:pic>
      <p:pic>
        <p:nvPicPr>
          <p:cNvPr id="263" name="Google Shape;263;p32"/>
          <p:cNvPicPr preferRelativeResize="0"/>
          <p:nvPr/>
        </p:nvPicPr>
        <p:blipFill>
          <a:blip r:embed="rId5">
            <a:alphaModFix/>
          </a:blip>
          <a:stretch>
            <a:fillRect/>
          </a:stretch>
        </p:blipFill>
        <p:spPr>
          <a:xfrm>
            <a:off x="7282550" y="1850625"/>
            <a:ext cx="892460" cy="681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type="title"/>
          </p:nvPr>
        </p:nvSpPr>
        <p:spPr>
          <a:xfrm>
            <a:off x="123825" y="262400"/>
            <a:ext cx="8901600" cy="86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Higher Fraud Risk when Policyholder is at Fault</a:t>
            </a:r>
            <a:endParaRPr sz="2400"/>
          </a:p>
        </p:txBody>
      </p:sp>
      <p:pic>
        <p:nvPicPr>
          <p:cNvPr id="269" name="Google Shape;269;p33"/>
          <p:cNvPicPr preferRelativeResize="0"/>
          <p:nvPr/>
        </p:nvPicPr>
        <p:blipFill rotWithShape="1">
          <a:blip r:embed="rId3">
            <a:alphaModFix/>
          </a:blip>
          <a:srcRect b="0" l="0" r="0" t="6463"/>
          <a:stretch/>
        </p:blipFill>
        <p:spPr>
          <a:xfrm>
            <a:off x="438125" y="802850"/>
            <a:ext cx="8304673" cy="3864401"/>
          </a:xfrm>
          <a:prstGeom prst="rect">
            <a:avLst/>
          </a:prstGeom>
          <a:noFill/>
          <a:ln>
            <a:noFill/>
          </a:ln>
        </p:spPr>
      </p:pic>
      <p:pic>
        <p:nvPicPr>
          <p:cNvPr id="270" name="Google Shape;270;p33"/>
          <p:cNvPicPr preferRelativeResize="0"/>
          <p:nvPr/>
        </p:nvPicPr>
        <p:blipFill>
          <a:blip r:embed="rId4">
            <a:alphaModFix/>
          </a:blip>
          <a:stretch>
            <a:fillRect/>
          </a:stretch>
        </p:blipFill>
        <p:spPr>
          <a:xfrm>
            <a:off x="1300163" y="928688"/>
            <a:ext cx="2390775" cy="1800225"/>
          </a:xfrm>
          <a:prstGeom prst="rect">
            <a:avLst/>
          </a:prstGeom>
          <a:noFill/>
          <a:ln>
            <a:noFill/>
          </a:ln>
        </p:spPr>
      </p:pic>
      <p:sp>
        <p:nvSpPr>
          <p:cNvPr id="271" name="Google Shape;271;p33"/>
          <p:cNvSpPr txBox="1"/>
          <p:nvPr/>
        </p:nvSpPr>
        <p:spPr>
          <a:xfrm>
            <a:off x="996676" y="4757028"/>
            <a:ext cx="7315800" cy="28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a:t>
            </a:r>
            <a:r>
              <a:rPr lang="en">
                <a:latin typeface="Roboto"/>
                <a:ea typeface="Roboto"/>
                <a:cs typeface="Roboto"/>
                <a:sym typeface="Roboto"/>
              </a:rPr>
              <a:t>f you cause the damage, you have a financial motive to lie that victims simply don't have</a:t>
            </a:r>
            <a:endParaRPr>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211025" y="339720"/>
            <a:ext cx="829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 acts as a lie detector</a:t>
            </a:r>
            <a:endParaRPr/>
          </a:p>
        </p:txBody>
      </p:sp>
      <p:pic>
        <p:nvPicPr>
          <p:cNvPr id="277" name="Google Shape;277;p34"/>
          <p:cNvPicPr preferRelativeResize="0"/>
          <p:nvPr/>
        </p:nvPicPr>
        <p:blipFill rotWithShape="1">
          <a:blip r:embed="rId3">
            <a:alphaModFix/>
          </a:blip>
          <a:srcRect b="0" l="0" r="0" t="5285"/>
          <a:stretch/>
        </p:blipFill>
        <p:spPr>
          <a:xfrm>
            <a:off x="720000" y="912425"/>
            <a:ext cx="7970050" cy="3755600"/>
          </a:xfrm>
          <a:prstGeom prst="rect">
            <a:avLst/>
          </a:prstGeom>
          <a:noFill/>
          <a:ln>
            <a:noFill/>
          </a:ln>
        </p:spPr>
      </p:pic>
      <p:pic>
        <p:nvPicPr>
          <p:cNvPr id="278" name="Google Shape;278;p34"/>
          <p:cNvPicPr preferRelativeResize="0"/>
          <p:nvPr/>
        </p:nvPicPr>
        <p:blipFill>
          <a:blip r:embed="rId4">
            <a:alphaModFix/>
          </a:blip>
          <a:stretch>
            <a:fillRect/>
          </a:stretch>
        </p:blipFill>
        <p:spPr>
          <a:xfrm>
            <a:off x="4691200" y="294895"/>
            <a:ext cx="662350" cy="662350"/>
          </a:xfrm>
          <a:prstGeom prst="rect">
            <a:avLst/>
          </a:prstGeom>
          <a:noFill/>
          <a:ln>
            <a:noFill/>
          </a:ln>
        </p:spPr>
      </p:pic>
      <p:sp>
        <p:nvSpPr>
          <p:cNvPr id="279" name="Google Shape;279;p34"/>
          <p:cNvSpPr txBox="1"/>
          <p:nvPr/>
        </p:nvSpPr>
        <p:spPr>
          <a:xfrm>
            <a:off x="788025" y="4668025"/>
            <a:ext cx="8082600" cy="3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Roboto"/>
                <a:ea typeface="Roboto"/>
                <a:cs typeface="Roboto"/>
                <a:sym typeface="Roboto"/>
              </a:rPr>
              <a:t>H</a:t>
            </a:r>
            <a:r>
              <a:rPr lang="en">
                <a:latin typeface="Roboto"/>
                <a:ea typeface="Roboto"/>
                <a:cs typeface="Roboto"/>
                <a:sym typeface="Roboto"/>
              </a:rPr>
              <a:t>onest people don't wait two weeks. This delay is a clear sign that someone is planning a story.</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5"/>
          <p:cNvSpPr txBox="1"/>
          <p:nvPr>
            <p:ph type="title"/>
          </p:nvPr>
        </p:nvSpPr>
        <p:spPr>
          <a:xfrm>
            <a:off x="720000" y="3229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The Risk Gap in Base Coverage</a:t>
            </a:r>
            <a:endParaRPr sz="2600"/>
          </a:p>
        </p:txBody>
      </p:sp>
      <p:pic>
        <p:nvPicPr>
          <p:cNvPr id="285" name="Google Shape;285;p35"/>
          <p:cNvPicPr preferRelativeResize="0"/>
          <p:nvPr/>
        </p:nvPicPr>
        <p:blipFill rotWithShape="1">
          <a:blip r:embed="rId3">
            <a:alphaModFix/>
          </a:blip>
          <a:srcRect b="3492" l="0" r="0" t="6507"/>
          <a:stretch/>
        </p:blipFill>
        <p:spPr>
          <a:xfrm>
            <a:off x="264000" y="773175"/>
            <a:ext cx="8757527" cy="3921301"/>
          </a:xfrm>
          <a:prstGeom prst="rect">
            <a:avLst/>
          </a:prstGeom>
          <a:noFill/>
          <a:ln>
            <a:noFill/>
          </a:ln>
        </p:spPr>
      </p:pic>
      <p:sp>
        <p:nvSpPr>
          <p:cNvPr id="286" name="Google Shape;286;p35"/>
          <p:cNvSpPr txBox="1"/>
          <p:nvPr/>
        </p:nvSpPr>
        <p:spPr>
          <a:xfrm>
            <a:off x="788025" y="4668025"/>
            <a:ext cx="8082600" cy="37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Roboto"/>
                <a:ea typeface="Roboto"/>
                <a:cs typeface="Roboto"/>
                <a:sym typeface="Roboto"/>
              </a:rPr>
              <a:t>Since All Perils it covers everything, it is the perfect target for fraud.  </a:t>
            </a:r>
            <a:endParaRPr>
              <a:latin typeface="Roboto"/>
              <a:ea typeface="Roboto"/>
              <a:cs typeface="Roboto"/>
              <a:sym typeface="Roboto"/>
            </a:endParaRPr>
          </a:p>
          <a:p>
            <a:pPr indent="0" lvl="0" marL="0" rtl="0" algn="l">
              <a:spcBef>
                <a:spcPts val="0"/>
              </a:spcBef>
              <a:spcAft>
                <a:spcPts val="0"/>
              </a:spcAft>
              <a:buNone/>
            </a:pPr>
            <a:r>
              <a:t/>
            </a:r>
            <a:endParaRPr sz="1100"/>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Hyperparameters</a:t>
            </a:r>
            <a:endParaRPr/>
          </a:p>
        </p:txBody>
      </p:sp>
      <p:sp>
        <p:nvSpPr>
          <p:cNvPr id="292" name="Google Shape;292;p36"/>
          <p:cNvSpPr txBox="1"/>
          <p:nvPr/>
        </p:nvSpPr>
        <p:spPr>
          <a:xfrm>
            <a:off x="359625" y="1516800"/>
            <a:ext cx="7825800" cy="3626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Font typeface="Roboto"/>
              <a:buChar char="●"/>
            </a:pPr>
            <a:r>
              <a:rPr b="1" lang="en">
                <a:solidFill>
                  <a:schemeClr val="dk1"/>
                </a:solidFill>
                <a:latin typeface="Roboto"/>
                <a:ea typeface="Roboto"/>
                <a:cs typeface="Roboto"/>
                <a:sym typeface="Roboto"/>
              </a:rPr>
              <a:t>Iterations </a:t>
            </a:r>
            <a:r>
              <a:rPr lang="en">
                <a:solidFill>
                  <a:schemeClr val="dk1"/>
                </a:solidFill>
                <a:latin typeface="Roboto"/>
                <a:ea typeface="Roboto"/>
                <a:cs typeface="Roboto"/>
                <a:sym typeface="Roboto"/>
              </a:rPr>
              <a:t>(500): Set to ensure full model convergence while maintaining high computational efficiency.</a:t>
            </a:r>
            <a:endParaRPr>
              <a:solidFill>
                <a:schemeClr val="dk1"/>
              </a:solidFill>
              <a:latin typeface="Roboto"/>
              <a:ea typeface="Roboto"/>
              <a:cs typeface="Roboto"/>
              <a:sym typeface="Roboto"/>
            </a:endParaRPr>
          </a:p>
          <a:p>
            <a:pPr indent="0" lvl="0" marL="457200" rtl="0" algn="l">
              <a:lnSpc>
                <a:spcPct val="115000"/>
              </a:lnSpc>
              <a:spcBef>
                <a:spcPts val="1200"/>
              </a:spcBef>
              <a:spcAft>
                <a:spcPts val="0"/>
              </a:spcAft>
              <a:buNone/>
            </a:pPr>
            <a:r>
              <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b="1" lang="en">
                <a:solidFill>
                  <a:schemeClr val="dk1"/>
                </a:solidFill>
                <a:latin typeface="Roboto"/>
                <a:ea typeface="Roboto"/>
                <a:cs typeface="Roboto"/>
                <a:sym typeface="Roboto"/>
              </a:rPr>
              <a:t>Loss Function </a:t>
            </a:r>
            <a:r>
              <a:rPr lang="en">
                <a:solidFill>
                  <a:schemeClr val="dk1"/>
                </a:solidFill>
                <a:latin typeface="Roboto"/>
                <a:ea typeface="Roboto"/>
                <a:cs typeface="Roboto"/>
                <a:sym typeface="Roboto"/>
              </a:rPr>
              <a:t>(Logloss): Optimized for </a:t>
            </a:r>
            <a:r>
              <a:rPr b="1" lang="en">
                <a:solidFill>
                  <a:schemeClr val="dk1"/>
                </a:solidFill>
                <a:latin typeface="Roboto"/>
                <a:ea typeface="Roboto"/>
                <a:cs typeface="Roboto"/>
                <a:sym typeface="Roboto"/>
              </a:rPr>
              <a:t>binary classification </a:t>
            </a:r>
            <a:r>
              <a:rPr lang="en">
                <a:solidFill>
                  <a:schemeClr val="dk1"/>
                </a:solidFill>
                <a:latin typeface="Roboto"/>
                <a:ea typeface="Roboto"/>
                <a:cs typeface="Roboto"/>
                <a:sym typeface="Roboto"/>
              </a:rPr>
              <a:t>to provide precise probability estimates for fraud.</a:t>
            </a:r>
            <a:endParaRPr>
              <a:solidFill>
                <a:schemeClr val="dk1"/>
              </a:solidFill>
              <a:latin typeface="Roboto"/>
              <a:ea typeface="Roboto"/>
              <a:cs typeface="Roboto"/>
              <a:sym typeface="Roboto"/>
            </a:endParaRPr>
          </a:p>
          <a:p>
            <a:pPr indent="0" lvl="0" marL="457200" rtl="0" algn="l">
              <a:lnSpc>
                <a:spcPct val="115000"/>
              </a:lnSpc>
              <a:spcBef>
                <a:spcPts val="1200"/>
              </a:spcBef>
              <a:spcAft>
                <a:spcPts val="0"/>
              </a:spcAft>
              <a:buNone/>
            </a:pPr>
            <a:r>
              <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b="1" lang="en">
                <a:solidFill>
                  <a:schemeClr val="dk1"/>
                </a:solidFill>
                <a:latin typeface="Roboto"/>
                <a:ea typeface="Roboto"/>
                <a:cs typeface="Roboto"/>
                <a:sym typeface="Roboto"/>
              </a:rPr>
              <a:t>Evaluation Metric </a:t>
            </a:r>
            <a:r>
              <a:rPr lang="en">
                <a:solidFill>
                  <a:schemeClr val="dk1"/>
                </a:solidFill>
                <a:latin typeface="Roboto"/>
                <a:ea typeface="Roboto"/>
                <a:cs typeface="Roboto"/>
                <a:sym typeface="Roboto"/>
              </a:rPr>
              <a:t>(AUC): Used to maximize the model's ability</a:t>
            </a:r>
            <a:r>
              <a:rPr b="1" lang="en">
                <a:solidFill>
                  <a:schemeClr val="dk1"/>
                </a:solidFill>
                <a:latin typeface="Roboto"/>
                <a:ea typeface="Roboto"/>
                <a:cs typeface="Roboto"/>
                <a:sym typeface="Roboto"/>
              </a:rPr>
              <a:t> to rank high-risk claims </a:t>
            </a:r>
            <a:r>
              <a:rPr lang="en">
                <a:solidFill>
                  <a:schemeClr val="dk1"/>
                </a:solidFill>
                <a:latin typeface="Roboto"/>
                <a:ea typeface="Roboto"/>
                <a:cs typeface="Roboto"/>
                <a:sym typeface="Roboto"/>
              </a:rPr>
              <a:t>correctly.</a:t>
            </a:r>
            <a:endParaRPr>
              <a:solidFill>
                <a:schemeClr val="dk1"/>
              </a:solidFill>
              <a:latin typeface="Roboto"/>
              <a:ea typeface="Roboto"/>
              <a:cs typeface="Roboto"/>
              <a:sym typeface="Roboto"/>
            </a:endParaRPr>
          </a:p>
          <a:p>
            <a:pPr indent="0" lvl="0" marL="457200" rtl="0" algn="l">
              <a:lnSpc>
                <a:spcPct val="115000"/>
              </a:lnSpc>
              <a:spcBef>
                <a:spcPts val="1200"/>
              </a:spcBef>
              <a:spcAft>
                <a:spcPts val="0"/>
              </a:spcAft>
              <a:buNone/>
            </a:pPr>
            <a:r>
              <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b="1" lang="en">
                <a:solidFill>
                  <a:schemeClr val="dk1"/>
                </a:solidFill>
                <a:latin typeface="Roboto"/>
                <a:ea typeface="Roboto"/>
                <a:cs typeface="Roboto"/>
                <a:sym typeface="Roboto"/>
              </a:rPr>
              <a:t>Auto Class Weights </a:t>
            </a:r>
            <a:r>
              <a:rPr lang="en">
                <a:solidFill>
                  <a:schemeClr val="dk1"/>
                </a:solidFill>
                <a:latin typeface="Roboto"/>
                <a:ea typeface="Roboto"/>
                <a:cs typeface="Roboto"/>
                <a:sym typeface="Roboto"/>
              </a:rPr>
              <a:t>(Balanced): Automatically penalizes misclassifying the </a:t>
            </a:r>
            <a:r>
              <a:rPr b="1" lang="en">
                <a:solidFill>
                  <a:schemeClr val="dk1"/>
                </a:solidFill>
                <a:latin typeface="Roboto"/>
                <a:ea typeface="Roboto"/>
                <a:cs typeface="Roboto"/>
                <a:sym typeface="Roboto"/>
              </a:rPr>
              <a:t>minority class.</a:t>
            </a:r>
            <a:endParaRPr b="1">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chemeClr val="dk1"/>
              </a:solidFill>
              <a:latin typeface="Roboto"/>
              <a:ea typeface="Roboto"/>
              <a:cs typeface="Roboto"/>
              <a:sym typeface="Roboto"/>
            </a:endParaRPr>
          </a:p>
        </p:txBody>
      </p:sp>
      <p:pic>
        <p:nvPicPr>
          <p:cNvPr id="293" name="Google Shape;293;p36"/>
          <p:cNvPicPr preferRelativeResize="0"/>
          <p:nvPr/>
        </p:nvPicPr>
        <p:blipFill>
          <a:blip r:embed="rId3">
            <a:alphaModFix/>
          </a:blip>
          <a:stretch>
            <a:fillRect/>
          </a:stretch>
        </p:blipFill>
        <p:spPr>
          <a:xfrm>
            <a:off x="4574575" y="327500"/>
            <a:ext cx="807750" cy="80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Selection &amp; Results</a:t>
            </a:r>
            <a:endParaRPr/>
          </a:p>
        </p:txBody>
      </p:sp>
      <p:sp>
        <p:nvSpPr>
          <p:cNvPr id="299" name="Google Shape;299;p37"/>
          <p:cNvSpPr txBox="1"/>
          <p:nvPr/>
        </p:nvSpPr>
        <p:spPr>
          <a:xfrm>
            <a:off x="138550" y="3313125"/>
            <a:ext cx="8452800" cy="156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latin typeface="Roboto"/>
                <a:ea typeface="Roboto"/>
                <a:cs typeface="Roboto"/>
                <a:sym typeface="Roboto"/>
              </a:rPr>
              <a:t>Logistic Regression:</a:t>
            </a:r>
            <a:r>
              <a:rPr lang="en">
                <a:latin typeface="Roboto"/>
                <a:ea typeface="Roboto"/>
                <a:cs typeface="Roboto"/>
                <a:sym typeface="Roboto"/>
              </a:rPr>
              <a:t> Simple but limited. Failed to capture complex, non-linear fraud patterns.</a:t>
            </a:r>
            <a:endParaRPr>
              <a:latin typeface="Roboto"/>
              <a:ea typeface="Roboto"/>
              <a:cs typeface="Roboto"/>
              <a:sym typeface="Roboto"/>
            </a:endParaRPr>
          </a:p>
          <a:p>
            <a:pPr indent="0" lvl="0" marL="0" rtl="0" algn="l">
              <a:lnSpc>
                <a:spcPct val="150000"/>
              </a:lnSpc>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pic>
        <p:nvPicPr>
          <p:cNvPr id="300" name="Google Shape;300;p37"/>
          <p:cNvPicPr preferRelativeResize="0"/>
          <p:nvPr/>
        </p:nvPicPr>
        <p:blipFill rotWithShape="1">
          <a:blip r:embed="rId3">
            <a:alphaModFix/>
          </a:blip>
          <a:srcRect b="64539" l="0" r="0" t="0"/>
          <a:stretch/>
        </p:blipFill>
        <p:spPr>
          <a:xfrm>
            <a:off x="1289900" y="1134992"/>
            <a:ext cx="5926750" cy="730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Selection &amp; Results</a:t>
            </a:r>
            <a:endParaRPr/>
          </a:p>
        </p:txBody>
      </p:sp>
      <p:sp>
        <p:nvSpPr>
          <p:cNvPr id="306" name="Google Shape;306;p38"/>
          <p:cNvSpPr txBox="1"/>
          <p:nvPr/>
        </p:nvSpPr>
        <p:spPr>
          <a:xfrm>
            <a:off x="138550" y="3313125"/>
            <a:ext cx="8452800" cy="156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latin typeface="Roboto"/>
                <a:ea typeface="Roboto"/>
                <a:cs typeface="Roboto"/>
                <a:sym typeface="Roboto"/>
              </a:rPr>
              <a:t>Logistic Regression:</a:t>
            </a:r>
            <a:r>
              <a:rPr lang="en">
                <a:latin typeface="Roboto"/>
                <a:ea typeface="Roboto"/>
                <a:cs typeface="Roboto"/>
                <a:sym typeface="Roboto"/>
              </a:rPr>
              <a:t> Simple but limited. Failed to capture complex, non-linear fraud patterns.</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Random Forest:</a:t>
            </a:r>
            <a:r>
              <a:rPr lang="en">
                <a:latin typeface="Roboto"/>
                <a:ea typeface="Roboto"/>
                <a:cs typeface="Roboto"/>
                <a:sym typeface="Roboto"/>
              </a:rPr>
              <a:t> Improved complexity but there are better algorithms.</a:t>
            </a:r>
            <a:endParaRPr>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pic>
        <p:nvPicPr>
          <p:cNvPr id="307" name="Google Shape;307;p38"/>
          <p:cNvPicPr preferRelativeResize="0"/>
          <p:nvPr/>
        </p:nvPicPr>
        <p:blipFill rotWithShape="1">
          <a:blip r:embed="rId3">
            <a:alphaModFix/>
          </a:blip>
          <a:srcRect b="46712" l="0" r="0" t="0"/>
          <a:stretch/>
        </p:blipFill>
        <p:spPr>
          <a:xfrm>
            <a:off x="1289900" y="1134994"/>
            <a:ext cx="5926750" cy="1098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Selection &amp; Results</a:t>
            </a:r>
            <a:endParaRPr/>
          </a:p>
        </p:txBody>
      </p:sp>
      <p:sp>
        <p:nvSpPr>
          <p:cNvPr id="313" name="Google Shape;313;p39"/>
          <p:cNvSpPr txBox="1"/>
          <p:nvPr/>
        </p:nvSpPr>
        <p:spPr>
          <a:xfrm>
            <a:off x="138550" y="3313125"/>
            <a:ext cx="8452800" cy="156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latin typeface="Roboto"/>
                <a:ea typeface="Roboto"/>
                <a:cs typeface="Roboto"/>
                <a:sym typeface="Roboto"/>
              </a:rPr>
              <a:t>Logistic Regression:</a:t>
            </a:r>
            <a:r>
              <a:rPr lang="en">
                <a:latin typeface="Roboto"/>
                <a:ea typeface="Roboto"/>
                <a:cs typeface="Roboto"/>
                <a:sym typeface="Roboto"/>
              </a:rPr>
              <a:t> Simple but limited. Failed to capture complex, non-linear fraud patterns.</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Random Forest:</a:t>
            </a:r>
            <a:r>
              <a:rPr lang="en">
                <a:latin typeface="Roboto"/>
                <a:ea typeface="Roboto"/>
                <a:cs typeface="Roboto"/>
                <a:sym typeface="Roboto"/>
              </a:rPr>
              <a:t> Improved complexity but there are better algorithms.</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XGBoost:</a:t>
            </a:r>
            <a:r>
              <a:rPr lang="en">
                <a:latin typeface="Roboto"/>
                <a:ea typeface="Roboto"/>
                <a:cs typeface="Roboto"/>
                <a:sym typeface="Roboto"/>
              </a:rPr>
              <a:t> Powerful boosting, but less efficient at handling high-cardinality categorical data.</a:t>
            </a:r>
            <a:endParaRPr>
              <a:latin typeface="Roboto"/>
              <a:ea typeface="Roboto"/>
              <a:cs typeface="Roboto"/>
              <a:sym typeface="Roboto"/>
            </a:endParaRPr>
          </a:p>
          <a:p>
            <a:pPr indent="0" lvl="0" marL="0" rtl="0" algn="l">
              <a:lnSpc>
                <a:spcPct val="150000"/>
              </a:lnSpc>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pic>
        <p:nvPicPr>
          <p:cNvPr id="314" name="Google Shape;314;p39"/>
          <p:cNvPicPr preferRelativeResize="0"/>
          <p:nvPr/>
        </p:nvPicPr>
        <p:blipFill rotWithShape="1">
          <a:blip r:embed="rId3">
            <a:alphaModFix/>
          </a:blip>
          <a:srcRect b="35086" l="0" r="0" t="0"/>
          <a:stretch/>
        </p:blipFill>
        <p:spPr>
          <a:xfrm>
            <a:off x="1289900" y="1135000"/>
            <a:ext cx="5926750" cy="1337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Selection &amp; Results</a:t>
            </a:r>
            <a:endParaRPr/>
          </a:p>
        </p:txBody>
      </p:sp>
      <p:sp>
        <p:nvSpPr>
          <p:cNvPr id="320" name="Google Shape;320;p40"/>
          <p:cNvSpPr txBox="1"/>
          <p:nvPr/>
        </p:nvSpPr>
        <p:spPr>
          <a:xfrm>
            <a:off x="138550" y="3313125"/>
            <a:ext cx="8452800" cy="156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latin typeface="Roboto"/>
                <a:ea typeface="Roboto"/>
                <a:cs typeface="Roboto"/>
                <a:sym typeface="Roboto"/>
              </a:rPr>
              <a:t>Logistic Regression:</a:t>
            </a:r>
            <a:r>
              <a:rPr lang="en">
                <a:latin typeface="Roboto"/>
                <a:ea typeface="Roboto"/>
                <a:cs typeface="Roboto"/>
                <a:sym typeface="Roboto"/>
              </a:rPr>
              <a:t> Simple but limited. Failed to capture complex, non-linear fraud patterns.</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Random Forest:</a:t>
            </a:r>
            <a:r>
              <a:rPr lang="en">
                <a:latin typeface="Roboto"/>
                <a:ea typeface="Roboto"/>
                <a:cs typeface="Roboto"/>
                <a:sym typeface="Roboto"/>
              </a:rPr>
              <a:t> Improved complexity but there are better algorithms.</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XGBoost:</a:t>
            </a:r>
            <a:r>
              <a:rPr lang="en">
                <a:latin typeface="Roboto"/>
                <a:ea typeface="Roboto"/>
                <a:cs typeface="Roboto"/>
                <a:sym typeface="Roboto"/>
              </a:rPr>
              <a:t> Powerful boosting, but less efficient at handling high-cardinality categorical data.</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CatBoost:</a:t>
            </a:r>
            <a:r>
              <a:rPr lang="en">
                <a:latin typeface="Roboto"/>
                <a:ea typeface="Roboto"/>
                <a:cs typeface="Roboto"/>
                <a:sym typeface="Roboto"/>
              </a:rPr>
              <a:t> Best handling of categorical features and superior stability in ranking fraudulent risk.</a:t>
            </a:r>
            <a:endParaRPr>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pic>
        <p:nvPicPr>
          <p:cNvPr id="321" name="Google Shape;321;p40"/>
          <p:cNvPicPr preferRelativeResize="0"/>
          <p:nvPr/>
        </p:nvPicPr>
        <p:blipFill rotWithShape="1">
          <a:blip r:embed="rId3">
            <a:alphaModFix/>
          </a:blip>
          <a:srcRect b="12610" l="0" r="0" t="0"/>
          <a:stretch/>
        </p:blipFill>
        <p:spPr>
          <a:xfrm>
            <a:off x="1289900" y="1134998"/>
            <a:ext cx="5926750" cy="1801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Selection &amp; Results</a:t>
            </a:r>
            <a:endParaRPr/>
          </a:p>
        </p:txBody>
      </p:sp>
      <p:sp>
        <p:nvSpPr>
          <p:cNvPr id="327" name="Google Shape;327;p41"/>
          <p:cNvSpPr txBox="1"/>
          <p:nvPr/>
        </p:nvSpPr>
        <p:spPr>
          <a:xfrm>
            <a:off x="138550" y="3313125"/>
            <a:ext cx="8452800" cy="156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latin typeface="Roboto"/>
                <a:ea typeface="Roboto"/>
                <a:cs typeface="Roboto"/>
                <a:sym typeface="Roboto"/>
              </a:rPr>
              <a:t>Logistic Regression:</a:t>
            </a:r>
            <a:r>
              <a:rPr lang="en">
                <a:latin typeface="Roboto"/>
                <a:ea typeface="Roboto"/>
                <a:cs typeface="Roboto"/>
                <a:sym typeface="Roboto"/>
              </a:rPr>
              <a:t> Simple but limited. Failed to capture complex, non-linear fraud patterns.</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Random Forest:</a:t>
            </a:r>
            <a:r>
              <a:rPr lang="en">
                <a:latin typeface="Roboto"/>
                <a:ea typeface="Roboto"/>
                <a:cs typeface="Roboto"/>
                <a:sym typeface="Roboto"/>
              </a:rPr>
              <a:t> Improved complexity but there are better algorithms.</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XGBoost:</a:t>
            </a:r>
            <a:r>
              <a:rPr lang="en">
                <a:latin typeface="Roboto"/>
                <a:ea typeface="Roboto"/>
                <a:cs typeface="Roboto"/>
                <a:sym typeface="Roboto"/>
              </a:rPr>
              <a:t> Powerful boosting, but less efficient at handling high-cardinality categorical data.</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CatBoost:</a:t>
            </a:r>
            <a:r>
              <a:rPr lang="en">
                <a:latin typeface="Roboto"/>
                <a:ea typeface="Roboto"/>
                <a:cs typeface="Roboto"/>
                <a:sym typeface="Roboto"/>
              </a:rPr>
              <a:t> Best handling of categorical features and superior stability in ranking fraudulent risk.</a:t>
            </a:r>
            <a:endParaRPr>
              <a:latin typeface="Roboto"/>
              <a:ea typeface="Roboto"/>
              <a:cs typeface="Roboto"/>
              <a:sym typeface="Roboto"/>
            </a:endParaRPr>
          </a:p>
          <a:p>
            <a:pPr indent="0" lvl="0" marL="0" rtl="0" algn="l">
              <a:lnSpc>
                <a:spcPct val="150000"/>
              </a:lnSpc>
              <a:spcBef>
                <a:spcPts val="0"/>
              </a:spcBef>
              <a:spcAft>
                <a:spcPts val="0"/>
              </a:spcAft>
              <a:buNone/>
            </a:pPr>
            <a:r>
              <a:rPr b="1" lang="en">
                <a:latin typeface="Roboto"/>
                <a:ea typeface="Roboto"/>
                <a:cs typeface="Roboto"/>
                <a:sym typeface="Roboto"/>
              </a:rPr>
              <a:t>CatBoost Tuned</a:t>
            </a:r>
            <a:r>
              <a:rPr lang="en" sz="1100"/>
              <a:t>:</a:t>
            </a:r>
            <a:r>
              <a:rPr lang="en">
                <a:latin typeface="Roboto"/>
                <a:ea typeface="Roboto"/>
                <a:cs typeface="Roboto"/>
                <a:sym typeface="Roboto"/>
              </a:rPr>
              <a:t> Despite applying a rigorous 2-phase optimization metrics remained stable.</a:t>
            </a:r>
            <a:endParaRPr>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pic>
        <p:nvPicPr>
          <p:cNvPr id="328" name="Google Shape;328;p41"/>
          <p:cNvPicPr preferRelativeResize="0"/>
          <p:nvPr/>
        </p:nvPicPr>
        <p:blipFill>
          <a:blip r:embed="rId3">
            <a:alphaModFix/>
          </a:blip>
          <a:stretch>
            <a:fillRect/>
          </a:stretch>
        </p:blipFill>
        <p:spPr>
          <a:xfrm>
            <a:off x="1289900" y="1134988"/>
            <a:ext cx="5926756" cy="206086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2"/>
          <p:cNvSpPr txBox="1"/>
          <p:nvPr>
            <p:ph type="title"/>
          </p:nvPr>
        </p:nvSpPr>
        <p:spPr>
          <a:xfrm>
            <a:off x="720000" y="321350"/>
            <a:ext cx="7704000" cy="6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Decoding the Main Drivers of Insurance Fraud</a:t>
            </a:r>
            <a:endParaRPr/>
          </a:p>
        </p:txBody>
      </p:sp>
      <p:sp>
        <p:nvSpPr>
          <p:cNvPr id="334" name="Google Shape;334;p42"/>
          <p:cNvSpPr/>
          <p:nvPr/>
        </p:nvSpPr>
        <p:spPr>
          <a:xfrm>
            <a:off x="2305025" y="1294050"/>
            <a:ext cx="4878300" cy="840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335" name="Google Shape;335;p42"/>
          <p:cNvPicPr preferRelativeResize="0"/>
          <p:nvPr/>
        </p:nvPicPr>
        <p:blipFill>
          <a:blip r:embed="rId3">
            <a:alphaModFix/>
          </a:blip>
          <a:stretch>
            <a:fillRect/>
          </a:stretch>
        </p:blipFill>
        <p:spPr>
          <a:xfrm>
            <a:off x="1660825" y="940250"/>
            <a:ext cx="5621676" cy="4006350"/>
          </a:xfrm>
          <a:prstGeom prst="rect">
            <a:avLst/>
          </a:prstGeom>
          <a:noFill/>
          <a:ln>
            <a:noFill/>
          </a:ln>
        </p:spPr>
      </p:pic>
      <p:sp>
        <p:nvSpPr>
          <p:cNvPr id="336" name="Google Shape;336;p42"/>
          <p:cNvSpPr/>
          <p:nvPr/>
        </p:nvSpPr>
        <p:spPr>
          <a:xfrm>
            <a:off x="2039175" y="1294050"/>
            <a:ext cx="5170200" cy="944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720000" y="336100"/>
            <a:ext cx="80991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Capturing 77% of Fraud with 30% Operational</a:t>
            </a:r>
            <a:endParaRPr sz="2600"/>
          </a:p>
        </p:txBody>
      </p:sp>
      <p:pic>
        <p:nvPicPr>
          <p:cNvPr id="342" name="Google Shape;342;p43"/>
          <p:cNvPicPr preferRelativeResize="0"/>
          <p:nvPr/>
        </p:nvPicPr>
        <p:blipFill>
          <a:blip r:embed="rId3">
            <a:alphaModFix/>
          </a:blip>
          <a:stretch>
            <a:fillRect/>
          </a:stretch>
        </p:blipFill>
        <p:spPr>
          <a:xfrm>
            <a:off x="1586650" y="1017700"/>
            <a:ext cx="5222034" cy="382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Project Impact &amp; Key Takeaways</a:t>
            </a:r>
            <a:endParaRPr/>
          </a:p>
        </p:txBody>
      </p:sp>
      <p:sp>
        <p:nvSpPr>
          <p:cNvPr id="348" name="Google Shape;348;p44"/>
          <p:cNvSpPr txBox="1"/>
          <p:nvPr/>
        </p:nvSpPr>
        <p:spPr>
          <a:xfrm>
            <a:off x="565600" y="1356325"/>
            <a:ext cx="3313200" cy="131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a:latin typeface="Roboto"/>
                <a:ea typeface="Roboto"/>
                <a:cs typeface="Roboto"/>
                <a:sym typeface="Roboto"/>
              </a:rPr>
              <a:t>1. Business Value</a:t>
            </a:r>
            <a:endParaRPr>
              <a:latin typeface="Roboto"/>
              <a:ea typeface="Roboto"/>
              <a:cs typeface="Roboto"/>
              <a:sym typeface="Roboto"/>
            </a:endParaRPr>
          </a:p>
          <a:p>
            <a:pPr indent="-317500" lvl="0" marL="457200" rtl="0" algn="l">
              <a:lnSpc>
                <a:spcPct val="115000"/>
              </a:lnSpc>
              <a:spcBef>
                <a:spcPts val="1200"/>
              </a:spcBef>
              <a:spcAft>
                <a:spcPts val="0"/>
              </a:spcAft>
              <a:buSzPts val="1400"/>
              <a:buFont typeface="Roboto"/>
              <a:buChar char="●"/>
            </a:pPr>
            <a:r>
              <a:rPr lang="en">
                <a:latin typeface="Roboto"/>
                <a:ea typeface="Roboto"/>
                <a:cs typeface="Roboto"/>
                <a:sym typeface="Roboto"/>
              </a:rPr>
              <a:t>Operational Efficiency</a:t>
            </a:r>
            <a:endParaRPr>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lang="en">
                <a:latin typeface="Roboto"/>
                <a:ea typeface="Roboto"/>
                <a:cs typeface="Roboto"/>
                <a:sym typeface="Roboto"/>
              </a:rPr>
              <a:t>Customer Experience (Fast-Tracking)</a:t>
            </a:r>
            <a:endParaRPr>
              <a:latin typeface="Roboto"/>
              <a:ea typeface="Roboto"/>
              <a:cs typeface="Roboto"/>
              <a:sym typeface="Roboto"/>
            </a:endParaRPr>
          </a:p>
          <a:p>
            <a:pPr indent="0" lvl="0" marL="0" rtl="0" algn="l">
              <a:spcBef>
                <a:spcPts val="1200"/>
              </a:spcBef>
              <a:spcAft>
                <a:spcPts val="0"/>
              </a:spcAft>
              <a:buNone/>
            </a:pPr>
            <a:r>
              <a:t/>
            </a:r>
            <a:endParaRPr sz="1200">
              <a:solidFill>
                <a:schemeClr val="dk1"/>
              </a:solidFill>
              <a:latin typeface="Roboto"/>
              <a:ea typeface="Roboto"/>
              <a:cs typeface="Roboto"/>
              <a:sym typeface="Roboto"/>
            </a:endParaRPr>
          </a:p>
        </p:txBody>
      </p:sp>
      <p:pic>
        <p:nvPicPr>
          <p:cNvPr id="349" name="Google Shape;349;p44"/>
          <p:cNvPicPr preferRelativeResize="0"/>
          <p:nvPr/>
        </p:nvPicPr>
        <p:blipFill>
          <a:blip r:embed="rId3">
            <a:alphaModFix/>
          </a:blip>
          <a:stretch>
            <a:fillRect/>
          </a:stretch>
        </p:blipFill>
        <p:spPr>
          <a:xfrm>
            <a:off x="3493400" y="1202327"/>
            <a:ext cx="5569025" cy="1690775"/>
          </a:xfrm>
          <a:prstGeom prst="rect">
            <a:avLst/>
          </a:prstGeom>
          <a:noFill/>
          <a:ln>
            <a:noFill/>
          </a:ln>
        </p:spPr>
      </p:pic>
      <p:sp>
        <p:nvSpPr>
          <p:cNvPr id="350" name="Google Shape;350;p44"/>
          <p:cNvSpPr txBox="1"/>
          <p:nvPr/>
        </p:nvSpPr>
        <p:spPr>
          <a:xfrm>
            <a:off x="565600" y="2893100"/>
            <a:ext cx="8432400" cy="216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a:latin typeface="Roboto"/>
                <a:ea typeface="Roboto"/>
                <a:cs typeface="Roboto"/>
                <a:sym typeface="Roboto"/>
              </a:rPr>
              <a:t>2. Challenges &amp; Limitations</a:t>
            </a:r>
            <a:endParaRPr b="1">
              <a:latin typeface="Roboto"/>
              <a:ea typeface="Roboto"/>
              <a:cs typeface="Roboto"/>
              <a:sym typeface="Roboto"/>
            </a:endParaRPr>
          </a:p>
          <a:p>
            <a:pPr indent="-317500" lvl="0" marL="457200" rtl="0" algn="l">
              <a:lnSpc>
                <a:spcPct val="115000"/>
              </a:lnSpc>
              <a:spcBef>
                <a:spcPts val="1200"/>
              </a:spcBef>
              <a:spcAft>
                <a:spcPts val="0"/>
              </a:spcAft>
              <a:buSzPts val="1400"/>
              <a:buFont typeface="Roboto"/>
              <a:buChar char="●"/>
            </a:pPr>
            <a:r>
              <a:rPr b="1" lang="en">
                <a:latin typeface="Roboto"/>
                <a:ea typeface="Roboto"/>
                <a:cs typeface="Roboto"/>
                <a:sym typeface="Roboto"/>
              </a:rPr>
              <a:t>Unbalanced </a:t>
            </a:r>
            <a:r>
              <a:rPr lang="en">
                <a:latin typeface="Roboto"/>
                <a:ea typeface="Roboto"/>
                <a:cs typeface="Roboto"/>
                <a:sym typeface="Roboto"/>
              </a:rPr>
              <a:t>data requires special preprocessing/ hyperparameters</a:t>
            </a:r>
            <a:endParaRPr>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lang="en">
                <a:latin typeface="Roboto"/>
                <a:ea typeface="Roboto"/>
                <a:cs typeface="Roboto"/>
                <a:sym typeface="Roboto"/>
              </a:rPr>
              <a:t>This model requires continuous retraining to detect </a:t>
            </a:r>
            <a:r>
              <a:rPr b="1" lang="en">
                <a:latin typeface="Roboto"/>
                <a:ea typeface="Roboto"/>
                <a:cs typeface="Roboto"/>
                <a:sym typeface="Roboto"/>
              </a:rPr>
              <a:t>emerging fraud tactics</a:t>
            </a:r>
            <a:endParaRPr b="1">
              <a:latin typeface="Roboto"/>
              <a:ea typeface="Roboto"/>
              <a:cs typeface="Roboto"/>
              <a:sym typeface="Roboto"/>
            </a:endParaRPr>
          </a:p>
          <a:p>
            <a:pPr indent="0" lvl="0" marL="0" rtl="0" algn="l">
              <a:lnSpc>
                <a:spcPct val="115000"/>
              </a:lnSpc>
              <a:spcBef>
                <a:spcPts val="1200"/>
              </a:spcBef>
              <a:spcAft>
                <a:spcPts val="0"/>
              </a:spcAft>
              <a:buNone/>
            </a:pPr>
            <a:r>
              <a:rPr b="1" lang="en">
                <a:latin typeface="Roboto"/>
                <a:ea typeface="Roboto"/>
                <a:cs typeface="Roboto"/>
                <a:sym typeface="Roboto"/>
              </a:rPr>
              <a:t>3. Future Work</a:t>
            </a:r>
            <a:endParaRPr b="1">
              <a:latin typeface="Roboto"/>
              <a:ea typeface="Roboto"/>
              <a:cs typeface="Roboto"/>
              <a:sym typeface="Roboto"/>
            </a:endParaRPr>
          </a:p>
          <a:p>
            <a:pPr indent="-317500" lvl="0" marL="457200" rtl="0" algn="l">
              <a:lnSpc>
                <a:spcPct val="115000"/>
              </a:lnSpc>
              <a:spcBef>
                <a:spcPts val="1200"/>
              </a:spcBef>
              <a:spcAft>
                <a:spcPts val="0"/>
              </a:spcAft>
              <a:buSzPts val="1400"/>
              <a:buFont typeface="Roboto"/>
              <a:buChar char="●"/>
            </a:pPr>
            <a:r>
              <a:rPr lang="en">
                <a:latin typeface="Roboto"/>
                <a:ea typeface="Roboto"/>
                <a:cs typeface="Roboto"/>
                <a:sym typeface="Roboto"/>
              </a:rPr>
              <a:t>Test the model on more recent data</a:t>
            </a:r>
            <a:endParaRPr>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lang="en">
                <a:latin typeface="Roboto"/>
                <a:ea typeface="Roboto"/>
                <a:cs typeface="Roboto"/>
                <a:sym typeface="Roboto"/>
              </a:rPr>
              <a:t>External data </a:t>
            </a:r>
            <a:r>
              <a:rPr lang="en">
                <a:latin typeface="Roboto"/>
                <a:ea typeface="Roboto"/>
                <a:cs typeface="Roboto"/>
                <a:sym typeface="Roboto"/>
              </a:rPr>
              <a:t>integration</a:t>
            </a:r>
            <a:endParaRPr>
              <a:latin typeface="Roboto"/>
              <a:ea typeface="Roboto"/>
              <a:cs typeface="Roboto"/>
              <a:sym typeface="Roboto"/>
            </a:endParaRPr>
          </a:p>
          <a:p>
            <a:pPr indent="0" lvl="0" marL="0" rtl="0" algn="l">
              <a:spcBef>
                <a:spcPts val="1200"/>
              </a:spcBef>
              <a:spcAft>
                <a:spcPts val="0"/>
              </a:spcAft>
              <a:buNone/>
            </a:pPr>
            <a:r>
              <a:t/>
            </a:r>
            <a:endParaRPr sz="1200">
              <a:solidFill>
                <a:schemeClr val="dk1"/>
              </a:solidFill>
              <a:latin typeface="Roboto"/>
              <a:ea typeface="Roboto"/>
              <a:cs typeface="Roboto"/>
              <a:sym typeface="Roboto"/>
            </a:endParaRPr>
          </a:p>
        </p:txBody>
      </p:sp>
      <p:sp>
        <p:nvSpPr>
          <p:cNvPr id="351" name="Google Shape;351;p44"/>
          <p:cNvSpPr/>
          <p:nvPr/>
        </p:nvSpPr>
        <p:spPr>
          <a:xfrm>
            <a:off x="3493550" y="2320425"/>
            <a:ext cx="5568900" cy="572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52" name="Google Shape;352;p44"/>
          <p:cNvCxnSpPr/>
          <p:nvPr/>
        </p:nvCxnSpPr>
        <p:spPr>
          <a:xfrm>
            <a:off x="2453775" y="2446150"/>
            <a:ext cx="765300" cy="39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45"/>
          <p:cNvPicPr preferRelativeResize="0"/>
          <p:nvPr/>
        </p:nvPicPr>
        <p:blipFill>
          <a:blip r:embed="rId3">
            <a:alphaModFix/>
          </a:blip>
          <a:stretch>
            <a:fillRect/>
          </a:stretch>
        </p:blipFill>
        <p:spPr>
          <a:xfrm>
            <a:off x="912983" y="1146900"/>
            <a:ext cx="2816000" cy="2816026"/>
          </a:xfrm>
          <a:prstGeom prst="rect">
            <a:avLst/>
          </a:prstGeom>
          <a:noFill/>
          <a:ln>
            <a:noFill/>
          </a:ln>
        </p:spPr>
      </p:pic>
      <p:sp>
        <p:nvSpPr>
          <p:cNvPr id="358" name="Google Shape;358;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tomotive Industry Consulting Toolkit by Slidesgo">
  <a:themeElements>
    <a:clrScheme name="Simple Light">
      <a:dk1>
        <a:srgbClr val="292929"/>
      </a:dk1>
      <a:lt1>
        <a:srgbClr val="F3F3F3"/>
      </a:lt1>
      <a:dk2>
        <a:srgbClr val="CA0505"/>
      </a:dk2>
      <a:lt2>
        <a:srgbClr val="A20A0A"/>
      </a:lt2>
      <a:accent1>
        <a:srgbClr val="B7B7B7"/>
      </a:accent1>
      <a:accent2>
        <a:srgbClr val="CE6A6A"/>
      </a:accent2>
      <a:accent3>
        <a:srgbClr val="FFFFFF"/>
      </a:accent3>
      <a:accent4>
        <a:srgbClr val="FFFFFF"/>
      </a:accent4>
      <a:accent5>
        <a:srgbClr val="FFFFFF"/>
      </a:accent5>
      <a:accent6>
        <a:srgbClr val="FFFFFF"/>
      </a:accent6>
      <a:hlink>
        <a:srgbClr val="29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